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goal: a small code change should reach our website without manual file copying. GitHub Actions builds and deploys; Azure runs the app. This deck explains our actual dev workflow, not a Docker pipeline. Allow about five to seven minutes for the walkthrough.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push trigger for the dev branch. Other branches do not trigger this workflow on push. workflow_dispatch enables the Run workflow button in GitHub Actions. The job uses the GitHub environment named dev, which holds the publish-profile secret and can enforce approvals. The concurrency group happens to be called azure-production; that is a lock name, not the target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runs-on ubuntu-latest: GitHub supplies a fresh Linux machine for the job. Checkout downloads the repository into that machine. setup-dotnet installs a .NET 10 SDK. The SDK is needed to compile here; Azure App Service only needs the .NET runtime to run the published app. The runner is separate from both our laptop and the Azure server.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dotnet publish: it restores packages, builds in Release configuration and collects deployable files. The complete workflow command includes the output path under runner.temp/task-app. The package includes TaskApp.dll, runtime configuration, dependency files and wwwroot assets. set -euo pipefail stops the shell on failures. If publishing fails, deployment does not run. There is currently no separate automated test step or test project.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 publish profile is downloaded XML containing deployment credentials; it is sensitive. Enable SCM Basic Auth Publishing Credentials in the web app's Configuration, General settings. FTP basic authentication is not required. Download the profile and store the entire XML in the GitHub dev environment secret named AZURE_WEBAPP_PUBLISH_PROFILE. Do not show a real profile during the demo. This workflow does not use azure/login or OIDC. If an organizational policy blocks basic auth, an administrator must approve a supported authentication approach.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azure/webapps-deploy action uploads the task-app output folder using the publish profile. App Service runs the configured startup command dotnet TaskApp.dll on its built-in .NET 10 runtime. The app becomes ready after startup, not instantly when the upload starts. SQLite is stored in /home/data, outside the deployed app files, so redeployment does not intentionally replace the database. Keep a single App Service instance with this SQLite design and back up the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Actions page and expand a step's logs. Steps execute in sequence and a failed step normally prevents subsequent steps from running. A successful upload should be followed by a live app check. Open /health and look for Healthy, then verify the visible change on the home page. The workflow does not automatically call /health; this is a manual verification step. Its concurrency group serializes deployments and cancel-in-progress false allows a running deployment to finish.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harmless heading change on the dev branch. Commit and push, open the Actions run, show checkout, SDK setup, publish and deploy, then refresh the website after the deployment succeeds. Avoid changing or deleting task data during the demo. Close with the main idea: a push starts an automated process that builds the code and uploads the result to Azure using a securely stored publish profile. Allow time for questions and for Azure startup.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67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274320"/>
          </a:xfrm>
          <a:prstGeom prst="rect">
            <a:avLst/>
          </a:prstGeom>
          <a:noFill/>
        </p:spPr>
        <p:txBody>
          <a:bodyPr wrap="square" lIns="0" rIns="0" tIns="0" bIns="0">
            <a:spAutoFit/>
          </a:bodyPr>
          <a:lstStyle/>
          <a:p>
            <a:pPr>
              <a:spcAft>
                <a:spcPts val="1000"/>
              </a:spcAft>
              <a:defRPr sz="1200" b="1">
                <a:solidFill>
                  <a:srgbClr val="16745A"/>
                </a:solidFill>
                <a:latin typeface="Avenir Next"/>
              </a:defRPr>
            </a:pPr>
            <a:r>
              <a:t>FROM CODE TO CLOUD</a:t>
            </a:r>
          </a:p>
        </p:txBody>
      </p:sp>
      <p:sp>
        <p:nvSpPr>
          <p:cNvPr id="4" name="TextBox 3"/>
          <p:cNvSpPr txBox="1"/>
          <p:nvPr/>
        </p:nvSpPr>
        <p:spPr>
          <a:xfrm>
            <a:off x="594360" y="896112"/>
            <a:ext cx="10972800" cy="685800"/>
          </a:xfrm>
          <a:prstGeom prst="rect">
            <a:avLst/>
          </a:prstGeom>
          <a:noFill/>
        </p:spPr>
        <p:txBody>
          <a:bodyPr wrap="square" lIns="0" rIns="0" tIns="0" bIns="0">
            <a:spAutoFit/>
          </a:bodyPr>
          <a:lstStyle/>
          <a:p>
            <a:pPr>
              <a:spcAft>
                <a:spcPts val="1000"/>
              </a:spcAft>
              <a:defRPr sz="3400" b="1">
                <a:solidFill>
                  <a:srgbClr val="172124"/>
                </a:solidFill>
                <a:latin typeface="Avenir Next"/>
              </a:defRPr>
            </a:pPr>
            <a:r>
              <a:t>One push. A repeatable deployment.</a:t>
            </a:r>
          </a:p>
        </p:txBody>
      </p:sp>
      <p:sp>
        <p:nvSpPr>
          <p:cNvPr id="5" name="TextBox 4"/>
          <p:cNvSpPr txBox="1"/>
          <p:nvPr/>
        </p:nvSpPr>
        <p:spPr>
          <a:xfrm>
            <a:off x="594360" y="1709928"/>
            <a:ext cx="10881360" cy="59436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How Task List reaches Azure App Service with GitHub Actions.</a:t>
            </a:r>
          </a:p>
        </p:txBody>
      </p:sp>
      <p:sp>
        <p:nvSpPr>
          <p:cNvPr id="6" name="Rectangle 5"/>
          <p:cNvSpPr/>
          <p:nvPr/>
        </p:nvSpPr>
        <p:spPr>
          <a:xfrm>
            <a:off x="594360" y="6345936"/>
            <a:ext cx="10972800" cy="13716"/>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92240"/>
            <a:ext cx="7315200" cy="228600"/>
          </a:xfrm>
          <a:prstGeom prst="rect">
            <a:avLst/>
          </a:prstGeom>
          <a:noFill/>
        </p:spPr>
        <p:txBody>
          <a:bodyPr wrap="square" lIns="0" rIns="0" tIns="0" bIns="0">
            <a:spAutoFit/>
          </a:bodyPr>
          <a:lstStyle/>
          <a:p>
            <a:pPr>
              <a:spcAft>
                <a:spcPts val="1000"/>
              </a:spcAft>
              <a:defRPr sz="1000" b="0">
                <a:solidFill>
                  <a:srgbClr val="526168"/>
                </a:solidFill>
                <a:latin typeface="Avenir Next"/>
              </a:defRPr>
            </a:pPr>
            <a:r>
              <a:t>TASK LIST  /  TEAM WALKTHROUGH</a:t>
            </a:r>
          </a:p>
        </p:txBody>
      </p:sp>
      <p:sp>
        <p:nvSpPr>
          <p:cNvPr id="8" name="TextBox 7"/>
          <p:cNvSpPr txBox="1"/>
          <p:nvPr/>
        </p:nvSpPr>
        <p:spPr>
          <a:xfrm>
            <a:off x="10652760" y="6473952"/>
            <a:ext cx="914400" cy="256032"/>
          </a:xfrm>
          <a:prstGeom prst="rect">
            <a:avLst/>
          </a:prstGeom>
          <a:noFill/>
        </p:spPr>
        <p:txBody>
          <a:bodyPr wrap="square" lIns="0" rIns="0" tIns="0" bIns="0">
            <a:spAutoFit/>
          </a:bodyPr>
          <a:lstStyle/>
          <a:p>
            <a:pPr>
              <a:spcAft>
                <a:spcPts val="1000"/>
              </a:spcAft>
              <a:defRPr sz="1100" b="0">
                <a:solidFill>
                  <a:srgbClr val="526168"/>
                </a:solidFill>
                <a:latin typeface="Avenir Next"/>
              </a:defRPr>
            </a:pPr>
            <a:r>
              <a:t>01 / 08</a:t>
            </a:r>
          </a:p>
        </p:txBody>
      </p:sp>
      <p:sp>
        <p:nvSpPr>
          <p:cNvPr id="9" name="Rectangle 8"/>
          <p:cNvSpPr/>
          <p:nvPr/>
        </p:nvSpPr>
        <p:spPr>
          <a:xfrm>
            <a:off x="594360" y="2743200"/>
            <a:ext cx="2331720" cy="45720"/>
          </a:xfrm>
          <a:prstGeom prst="rect">
            <a:avLst/>
          </a:prstGeom>
          <a:solidFill>
            <a:srgbClr val="17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926080"/>
            <a:ext cx="2331720" cy="365760"/>
          </a:xfrm>
          <a:prstGeom prst="rect">
            <a:avLst/>
          </a:prstGeom>
          <a:noFill/>
        </p:spPr>
        <p:txBody>
          <a:bodyPr wrap="square" lIns="0" rIns="0" tIns="0" bIns="0">
            <a:spAutoFit/>
          </a:bodyPr>
          <a:lstStyle/>
          <a:p>
            <a:pPr>
              <a:spcAft>
                <a:spcPts val="1000"/>
              </a:spcAft>
              <a:defRPr sz="1300" b="1">
                <a:solidFill>
                  <a:srgbClr val="172124"/>
                </a:solidFill>
                <a:latin typeface="Avenir Next"/>
              </a:defRPr>
            </a:pPr>
            <a:r>
              <a:t>01 / SOURCE</a:t>
            </a:r>
          </a:p>
        </p:txBody>
      </p:sp>
      <p:sp>
        <p:nvSpPr>
          <p:cNvPr id="11" name="TextBox 10"/>
          <p:cNvSpPr txBox="1"/>
          <p:nvPr/>
        </p:nvSpPr>
        <p:spPr>
          <a:xfrm>
            <a:off x="594360" y="3438144"/>
            <a:ext cx="233172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Change</a:t>
            </a:r>
          </a:p>
        </p:txBody>
      </p:sp>
      <p:sp>
        <p:nvSpPr>
          <p:cNvPr id="12" name="TextBox 11"/>
          <p:cNvSpPr txBox="1"/>
          <p:nvPr/>
        </p:nvSpPr>
        <p:spPr>
          <a:xfrm>
            <a:off x="594360" y="4114800"/>
            <a:ext cx="233172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Update the app</a:t>
            </a:r>
          </a:p>
          <a:p>
            <a:pPr>
              <a:spcAft>
                <a:spcPts val="1000"/>
              </a:spcAft>
              <a:defRPr sz="1800" b="0">
                <a:solidFill>
                  <a:srgbClr val="526168"/>
                </a:solidFill>
                <a:latin typeface="Avenir Next"/>
              </a:defRPr>
            </a:pPr>
            <a:r>
              <a:t>and push to dev.</a:t>
            </a:r>
          </a:p>
        </p:txBody>
      </p:sp>
      <p:sp>
        <p:nvSpPr>
          <p:cNvPr id="13" name="Chevron 12"/>
          <p:cNvSpPr/>
          <p:nvPr/>
        </p:nvSpPr>
        <p:spPr>
          <a:xfrm>
            <a:off x="3072384" y="3511296"/>
            <a:ext cx="210312" cy="210312"/>
          </a:xfrm>
          <a:prstGeom prst="chevron">
            <a:avLst/>
          </a:prstGeom>
          <a:solidFill>
            <a:srgbClr val="526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29000" y="2743200"/>
            <a:ext cx="2331720" cy="45720"/>
          </a:xfrm>
          <a:prstGeom prst="rect">
            <a:avLst/>
          </a:prstGeom>
          <a:solidFill>
            <a:srgbClr val="156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2926080"/>
            <a:ext cx="2331720" cy="365760"/>
          </a:xfrm>
          <a:prstGeom prst="rect">
            <a:avLst/>
          </a:prstGeom>
          <a:noFill/>
        </p:spPr>
        <p:txBody>
          <a:bodyPr wrap="square" lIns="0" rIns="0" tIns="0" bIns="0">
            <a:spAutoFit/>
          </a:bodyPr>
          <a:lstStyle/>
          <a:p>
            <a:pPr>
              <a:spcAft>
                <a:spcPts val="1000"/>
              </a:spcAft>
              <a:defRPr sz="1300" b="1">
                <a:solidFill>
                  <a:srgbClr val="1569D4"/>
                </a:solidFill>
                <a:latin typeface="Avenir Next"/>
              </a:defRPr>
            </a:pPr>
            <a:r>
              <a:t>02 / GITHUB</a:t>
            </a:r>
          </a:p>
        </p:txBody>
      </p:sp>
      <p:sp>
        <p:nvSpPr>
          <p:cNvPr id="16" name="TextBox 15"/>
          <p:cNvSpPr txBox="1"/>
          <p:nvPr/>
        </p:nvSpPr>
        <p:spPr>
          <a:xfrm>
            <a:off x="3429000" y="3438144"/>
            <a:ext cx="233172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Build</a:t>
            </a:r>
          </a:p>
        </p:txBody>
      </p:sp>
      <p:sp>
        <p:nvSpPr>
          <p:cNvPr id="17" name="TextBox 16"/>
          <p:cNvSpPr txBox="1"/>
          <p:nvPr/>
        </p:nvSpPr>
        <p:spPr>
          <a:xfrm>
            <a:off x="3429000" y="4114800"/>
            <a:ext cx="233172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Prepare the files</a:t>
            </a:r>
          </a:p>
          <a:p>
            <a:pPr>
              <a:spcAft>
                <a:spcPts val="1000"/>
              </a:spcAft>
              <a:defRPr sz="1800" b="0">
                <a:solidFill>
                  <a:srgbClr val="526168"/>
                </a:solidFill>
                <a:latin typeface="Avenir Next"/>
              </a:defRPr>
            </a:pPr>
            <a:r>
              <a:t>Azure can run.</a:t>
            </a:r>
          </a:p>
        </p:txBody>
      </p:sp>
      <p:sp>
        <p:nvSpPr>
          <p:cNvPr id="18" name="Chevron 17"/>
          <p:cNvSpPr/>
          <p:nvPr/>
        </p:nvSpPr>
        <p:spPr>
          <a:xfrm>
            <a:off x="5907024" y="3511296"/>
            <a:ext cx="210312" cy="210312"/>
          </a:xfrm>
          <a:prstGeom prst="chevron">
            <a:avLst/>
          </a:prstGeom>
          <a:solidFill>
            <a:srgbClr val="526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2743200"/>
            <a:ext cx="2331720" cy="45720"/>
          </a:xfrm>
          <a:prstGeom prst="rect">
            <a:avLst/>
          </a:prstGeom>
          <a:solidFill>
            <a:srgbClr val="167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2926080"/>
            <a:ext cx="2331720" cy="365760"/>
          </a:xfrm>
          <a:prstGeom prst="rect">
            <a:avLst/>
          </a:prstGeom>
          <a:noFill/>
        </p:spPr>
        <p:txBody>
          <a:bodyPr wrap="square" lIns="0" rIns="0" tIns="0" bIns="0">
            <a:spAutoFit/>
          </a:bodyPr>
          <a:lstStyle/>
          <a:p>
            <a:pPr>
              <a:spcAft>
                <a:spcPts val="1000"/>
              </a:spcAft>
              <a:defRPr sz="1300" b="1">
                <a:solidFill>
                  <a:srgbClr val="16745A"/>
                </a:solidFill>
                <a:latin typeface="Avenir Next"/>
              </a:defRPr>
            </a:pPr>
            <a:r>
              <a:t>03 / AZURE</a:t>
            </a:r>
          </a:p>
        </p:txBody>
      </p:sp>
      <p:sp>
        <p:nvSpPr>
          <p:cNvPr id="21" name="TextBox 20"/>
          <p:cNvSpPr txBox="1"/>
          <p:nvPr/>
        </p:nvSpPr>
        <p:spPr>
          <a:xfrm>
            <a:off x="6263640" y="3438144"/>
            <a:ext cx="233172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Deploy</a:t>
            </a:r>
          </a:p>
        </p:txBody>
      </p:sp>
      <p:sp>
        <p:nvSpPr>
          <p:cNvPr id="22" name="TextBox 21"/>
          <p:cNvSpPr txBox="1"/>
          <p:nvPr/>
        </p:nvSpPr>
        <p:spPr>
          <a:xfrm>
            <a:off x="6263640" y="4114800"/>
            <a:ext cx="233172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Upload files to</a:t>
            </a:r>
          </a:p>
          <a:p>
            <a:pPr>
              <a:spcAft>
                <a:spcPts val="1000"/>
              </a:spcAft>
              <a:defRPr sz="1800" b="0">
                <a:solidFill>
                  <a:srgbClr val="526168"/>
                </a:solidFill>
                <a:latin typeface="Avenir Next"/>
              </a:defRPr>
            </a:pPr>
            <a:r>
              <a:t>App Service.</a:t>
            </a:r>
          </a:p>
        </p:txBody>
      </p:sp>
      <p:sp>
        <p:nvSpPr>
          <p:cNvPr id="23" name="Chevron 22"/>
          <p:cNvSpPr/>
          <p:nvPr/>
        </p:nvSpPr>
        <p:spPr>
          <a:xfrm>
            <a:off x="8741664" y="3511296"/>
            <a:ext cx="210312" cy="210312"/>
          </a:xfrm>
          <a:prstGeom prst="chevron">
            <a:avLst/>
          </a:prstGeom>
          <a:solidFill>
            <a:srgbClr val="526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98280" y="2743200"/>
            <a:ext cx="2331720" cy="45720"/>
          </a:xfrm>
          <a:prstGeom prst="rect">
            <a:avLst/>
          </a:prstGeom>
          <a:solidFill>
            <a:srgbClr val="17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2926080"/>
            <a:ext cx="2331720" cy="365760"/>
          </a:xfrm>
          <a:prstGeom prst="rect">
            <a:avLst/>
          </a:prstGeom>
          <a:noFill/>
        </p:spPr>
        <p:txBody>
          <a:bodyPr wrap="square" lIns="0" rIns="0" tIns="0" bIns="0">
            <a:spAutoFit/>
          </a:bodyPr>
          <a:lstStyle/>
          <a:p>
            <a:pPr>
              <a:spcAft>
                <a:spcPts val="1000"/>
              </a:spcAft>
              <a:defRPr sz="1300" b="1">
                <a:solidFill>
                  <a:srgbClr val="172124"/>
                </a:solidFill>
                <a:latin typeface="Avenir Next"/>
              </a:defRPr>
            </a:pPr>
            <a:r>
              <a:t>04 / WEBSITE</a:t>
            </a:r>
          </a:p>
        </p:txBody>
      </p:sp>
      <p:sp>
        <p:nvSpPr>
          <p:cNvPr id="26" name="TextBox 25"/>
          <p:cNvSpPr txBox="1"/>
          <p:nvPr/>
        </p:nvSpPr>
        <p:spPr>
          <a:xfrm>
            <a:off x="9098280" y="3438144"/>
            <a:ext cx="233172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Use</a:t>
            </a:r>
          </a:p>
        </p:txBody>
      </p:sp>
      <p:sp>
        <p:nvSpPr>
          <p:cNvPr id="27" name="TextBox 26"/>
          <p:cNvSpPr txBox="1"/>
          <p:nvPr/>
        </p:nvSpPr>
        <p:spPr>
          <a:xfrm>
            <a:off x="9098280" y="4114800"/>
            <a:ext cx="233172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Open the updated</a:t>
            </a:r>
          </a:p>
          <a:p>
            <a:pPr>
              <a:spcAft>
                <a:spcPts val="1000"/>
              </a:spcAft>
              <a:defRPr sz="1800" b="0">
                <a:solidFill>
                  <a:srgbClr val="526168"/>
                </a:solidFill>
                <a:latin typeface="Avenir Next"/>
              </a:defRPr>
            </a:pPr>
            <a:r>
              <a:t>Task List app.</a:t>
            </a:r>
          </a:p>
        </p:txBody>
      </p:sp>
      <p:sp>
        <p:nvSpPr>
          <p:cNvPr id="28" name="Rectangle 27"/>
          <p:cNvSpPr/>
          <p:nvPr/>
        </p:nvSpPr>
        <p:spPr>
          <a:xfrm>
            <a:off x="594360" y="5321808"/>
            <a:ext cx="10972800" cy="749808"/>
          </a:xfrm>
          <a:prstGeom prst="rect">
            <a:avLst/>
          </a:prstGeom>
          <a:solidFill>
            <a:srgbClr val="E5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458968"/>
            <a:ext cx="2286000" cy="411480"/>
          </a:xfrm>
          <a:prstGeom prst="rect">
            <a:avLst/>
          </a:prstGeom>
          <a:noFill/>
        </p:spPr>
        <p:txBody>
          <a:bodyPr wrap="square" lIns="0" rIns="0" tIns="0" bIns="0">
            <a:spAutoFit/>
          </a:bodyPr>
          <a:lstStyle/>
          <a:p>
            <a:pPr>
              <a:spcAft>
                <a:spcPts val="1000"/>
              </a:spcAft>
              <a:defRPr sz="1600" b="1">
                <a:solidFill>
                  <a:srgbClr val="16745A"/>
                </a:solidFill>
                <a:latin typeface="Avenir Next"/>
              </a:defRPr>
            </a:pPr>
            <a:r>
              <a:t>OUR APPROACH</a:t>
            </a:r>
          </a:p>
        </p:txBody>
      </p:sp>
      <p:sp>
        <p:nvSpPr>
          <p:cNvPr id="30" name="TextBox 29"/>
          <p:cNvSpPr txBox="1"/>
          <p:nvPr/>
        </p:nvSpPr>
        <p:spPr>
          <a:xfrm>
            <a:off x="3063240" y="5458968"/>
            <a:ext cx="8229600" cy="457200"/>
          </a:xfrm>
          <a:prstGeom prst="rect">
            <a:avLst/>
          </a:prstGeom>
          <a:noFill/>
        </p:spPr>
        <p:txBody>
          <a:bodyPr wrap="square" lIns="0" rIns="0" tIns="0" bIns="0">
            <a:spAutoFit/>
          </a:bodyPr>
          <a:lstStyle/>
          <a:p>
            <a:pPr>
              <a:spcAft>
                <a:spcPts val="1000"/>
              </a:spcAft>
              <a:defRPr sz="1700" b="0">
                <a:solidFill>
                  <a:srgbClr val="172124"/>
                </a:solidFill>
                <a:latin typeface="Avenir Next"/>
              </a:defRPr>
            </a:pPr>
            <a:r>
              <a:t>.NET 10 code deployment. No Docker image or ACR required.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67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274320"/>
          </a:xfrm>
          <a:prstGeom prst="rect">
            <a:avLst/>
          </a:prstGeom>
          <a:noFill/>
        </p:spPr>
        <p:txBody>
          <a:bodyPr wrap="square" lIns="0" rIns="0" tIns="0" bIns="0">
            <a:spAutoFit/>
          </a:bodyPr>
          <a:lstStyle/>
          <a:p>
            <a:pPr>
              <a:spcAft>
                <a:spcPts val="1000"/>
              </a:spcAft>
              <a:defRPr sz="1200" b="1">
                <a:solidFill>
                  <a:srgbClr val="16745A"/>
                </a:solidFill>
                <a:latin typeface="Avenir Next"/>
              </a:defRPr>
            </a:pPr>
            <a:r>
              <a:t>01 / START</a:t>
            </a:r>
          </a:p>
        </p:txBody>
      </p:sp>
      <p:sp>
        <p:nvSpPr>
          <p:cNvPr id="4" name="TextBox 3"/>
          <p:cNvSpPr txBox="1"/>
          <p:nvPr/>
        </p:nvSpPr>
        <p:spPr>
          <a:xfrm>
            <a:off x="594360" y="896112"/>
            <a:ext cx="10972800" cy="685800"/>
          </a:xfrm>
          <a:prstGeom prst="rect">
            <a:avLst/>
          </a:prstGeom>
          <a:noFill/>
        </p:spPr>
        <p:txBody>
          <a:bodyPr wrap="square" lIns="0" rIns="0" tIns="0" bIns="0">
            <a:spAutoFit/>
          </a:bodyPr>
          <a:lstStyle/>
          <a:p>
            <a:pPr>
              <a:spcAft>
                <a:spcPts val="1000"/>
              </a:spcAft>
              <a:defRPr sz="3400" b="1">
                <a:solidFill>
                  <a:srgbClr val="172124"/>
                </a:solidFill>
                <a:latin typeface="Avenir Next"/>
              </a:defRPr>
            </a:pPr>
            <a:r>
              <a:t>What starts the workflow?</a:t>
            </a:r>
          </a:p>
        </p:txBody>
      </p:sp>
      <p:sp>
        <p:nvSpPr>
          <p:cNvPr id="5" name="TextBox 4"/>
          <p:cNvSpPr txBox="1"/>
          <p:nvPr/>
        </p:nvSpPr>
        <p:spPr>
          <a:xfrm>
            <a:off x="594360" y="1709928"/>
            <a:ext cx="10881360" cy="59436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Automatic when we push. Manual when we need it.</a:t>
            </a:r>
          </a:p>
        </p:txBody>
      </p:sp>
      <p:sp>
        <p:nvSpPr>
          <p:cNvPr id="6" name="Rectangle 5"/>
          <p:cNvSpPr/>
          <p:nvPr/>
        </p:nvSpPr>
        <p:spPr>
          <a:xfrm>
            <a:off x="594360" y="6345936"/>
            <a:ext cx="10972800" cy="13716"/>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92240"/>
            <a:ext cx="7315200" cy="228600"/>
          </a:xfrm>
          <a:prstGeom prst="rect">
            <a:avLst/>
          </a:prstGeom>
          <a:noFill/>
        </p:spPr>
        <p:txBody>
          <a:bodyPr wrap="square" lIns="0" rIns="0" tIns="0" bIns="0">
            <a:spAutoFit/>
          </a:bodyPr>
          <a:lstStyle/>
          <a:p>
            <a:pPr>
              <a:spcAft>
                <a:spcPts val="1000"/>
              </a:spcAft>
              <a:defRPr sz="1000" b="0">
                <a:solidFill>
                  <a:srgbClr val="526168"/>
                </a:solidFill>
                <a:latin typeface="Avenir Next"/>
              </a:defRPr>
            </a:pPr>
            <a:r>
              <a:t>TASK LIST  /  TEAM WALKTHROUGH</a:t>
            </a:r>
          </a:p>
        </p:txBody>
      </p:sp>
      <p:sp>
        <p:nvSpPr>
          <p:cNvPr id="8" name="TextBox 7"/>
          <p:cNvSpPr txBox="1"/>
          <p:nvPr/>
        </p:nvSpPr>
        <p:spPr>
          <a:xfrm>
            <a:off x="10652760" y="6473952"/>
            <a:ext cx="914400" cy="256032"/>
          </a:xfrm>
          <a:prstGeom prst="rect">
            <a:avLst/>
          </a:prstGeom>
          <a:noFill/>
        </p:spPr>
        <p:txBody>
          <a:bodyPr wrap="square" lIns="0" rIns="0" tIns="0" bIns="0">
            <a:spAutoFit/>
          </a:bodyPr>
          <a:lstStyle/>
          <a:p>
            <a:pPr>
              <a:spcAft>
                <a:spcPts val="1000"/>
              </a:spcAft>
              <a:defRPr sz="1100" b="0">
                <a:solidFill>
                  <a:srgbClr val="526168"/>
                </a:solidFill>
                <a:latin typeface="Avenir Next"/>
              </a:defRPr>
            </a:pPr>
            <a:r>
              <a:t>02 / 08</a:t>
            </a:r>
          </a:p>
        </p:txBody>
      </p:sp>
      <p:sp>
        <p:nvSpPr>
          <p:cNvPr id="9" name="Rectangle 8"/>
          <p:cNvSpPr/>
          <p:nvPr/>
        </p:nvSpPr>
        <p:spPr>
          <a:xfrm>
            <a:off x="594360" y="2606040"/>
            <a:ext cx="3017520" cy="45720"/>
          </a:xfrm>
          <a:prstGeom prst="rect">
            <a:avLst/>
          </a:prstGeom>
          <a:solidFill>
            <a:srgbClr val="156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788920"/>
            <a:ext cx="3017520" cy="365760"/>
          </a:xfrm>
          <a:prstGeom prst="rect">
            <a:avLst/>
          </a:prstGeom>
          <a:noFill/>
        </p:spPr>
        <p:txBody>
          <a:bodyPr wrap="square" lIns="0" rIns="0" tIns="0" bIns="0">
            <a:spAutoFit/>
          </a:bodyPr>
          <a:lstStyle/>
          <a:p>
            <a:pPr>
              <a:spcAft>
                <a:spcPts val="1000"/>
              </a:spcAft>
              <a:defRPr sz="1300" b="1">
                <a:solidFill>
                  <a:srgbClr val="1569D4"/>
                </a:solidFill>
                <a:latin typeface="Avenir Next"/>
              </a:defRPr>
            </a:pPr>
            <a:r>
              <a:t>AUTOMATIC</a:t>
            </a:r>
          </a:p>
        </p:txBody>
      </p:sp>
      <p:sp>
        <p:nvSpPr>
          <p:cNvPr id="11" name="TextBox 10"/>
          <p:cNvSpPr txBox="1"/>
          <p:nvPr/>
        </p:nvSpPr>
        <p:spPr>
          <a:xfrm>
            <a:off x="594360" y="3300984"/>
            <a:ext cx="301752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Push to dev</a:t>
            </a:r>
          </a:p>
        </p:txBody>
      </p:sp>
      <p:sp>
        <p:nvSpPr>
          <p:cNvPr id="12" name="TextBox 11"/>
          <p:cNvSpPr txBox="1"/>
          <p:nvPr/>
        </p:nvSpPr>
        <p:spPr>
          <a:xfrm>
            <a:off x="594360" y="3977639"/>
            <a:ext cx="301752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A commit pushed to dev</a:t>
            </a:r>
          </a:p>
          <a:p>
            <a:pPr>
              <a:spcAft>
                <a:spcPts val="1000"/>
              </a:spcAft>
              <a:defRPr sz="1800" b="0">
                <a:solidFill>
                  <a:srgbClr val="526168"/>
                </a:solidFill>
                <a:latin typeface="Avenir Next"/>
              </a:defRPr>
            </a:pPr>
            <a:r>
              <a:t>starts Build and deploy.</a:t>
            </a:r>
          </a:p>
        </p:txBody>
      </p:sp>
      <p:sp>
        <p:nvSpPr>
          <p:cNvPr id="13" name="Rectangle 12"/>
          <p:cNvSpPr/>
          <p:nvPr/>
        </p:nvSpPr>
        <p:spPr>
          <a:xfrm>
            <a:off x="4069080" y="2606040"/>
            <a:ext cx="3017520" cy="45720"/>
          </a:xfrm>
          <a:prstGeom prst="rect">
            <a:avLst/>
          </a:prstGeom>
          <a:solidFill>
            <a:srgbClr val="167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69080" y="2788920"/>
            <a:ext cx="3017520" cy="365760"/>
          </a:xfrm>
          <a:prstGeom prst="rect">
            <a:avLst/>
          </a:prstGeom>
          <a:noFill/>
        </p:spPr>
        <p:txBody>
          <a:bodyPr wrap="square" lIns="0" rIns="0" tIns="0" bIns="0">
            <a:spAutoFit/>
          </a:bodyPr>
          <a:lstStyle/>
          <a:p>
            <a:pPr>
              <a:spcAft>
                <a:spcPts val="1000"/>
              </a:spcAft>
              <a:defRPr sz="1300" b="1">
                <a:solidFill>
                  <a:srgbClr val="16745A"/>
                </a:solidFill>
                <a:latin typeface="Avenir Next"/>
              </a:defRPr>
            </a:pPr>
            <a:r>
              <a:t>MANUAL</a:t>
            </a:r>
          </a:p>
        </p:txBody>
      </p:sp>
      <p:sp>
        <p:nvSpPr>
          <p:cNvPr id="15" name="TextBox 14"/>
          <p:cNvSpPr txBox="1"/>
          <p:nvPr/>
        </p:nvSpPr>
        <p:spPr>
          <a:xfrm>
            <a:off x="4069080" y="3300984"/>
            <a:ext cx="301752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Run workflow</a:t>
            </a:r>
          </a:p>
        </p:txBody>
      </p:sp>
      <p:sp>
        <p:nvSpPr>
          <p:cNvPr id="16" name="TextBox 15"/>
          <p:cNvSpPr txBox="1"/>
          <p:nvPr/>
        </p:nvSpPr>
        <p:spPr>
          <a:xfrm>
            <a:off x="4069080" y="3977639"/>
            <a:ext cx="301752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Open GitHub Actions</a:t>
            </a:r>
          </a:p>
          <a:p>
            <a:pPr>
              <a:spcAft>
                <a:spcPts val="1000"/>
              </a:spcAft>
              <a:defRPr sz="1800" b="0">
                <a:solidFill>
                  <a:srgbClr val="526168"/>
                </a:solidFill>
                <a:latin typeface="Avenir Next"/>
              </a:defRPr>
            </a:pPr>
            <a:r>
              <a:t>and start it yourself.</a:t>
            </a:r>
          </a:p>
        </p:txBody>
      </p:sp>
      <p:sp>
        <p:nvSpPr>
          <p:cNvPr id="17" name="Rectangle 16"/>
          <p:cNvSpPr/>
          <p:nvPr/>
        </p:nvSpPr>
        <p:spPr>
          <a:xfrm>
            <a:off x="7726679" y="2606040"/>
            <a:ext cx="3840480" cy="2423160"/>
          </a:xfrm>
          <a:prstGeom prst="rect">
            <a:avLst/>
          </a:prstGeom>
          <a:solidFill>
            <a:srgbClr val="202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2834640"/>
            <a:ext cx="3383280" cy="1965960"/>
          </a:xfrm>
          <a:prstGeom prst="rect">
            <a:avLst/>
          </a:prstGeom>
          <a:noFill/>
        </p:spPr>
        <p:txBody>
          <a:bodyPr wrap="square" lIns="0" rIns="0" tIns="0" bIns="0">
            <a:spAutoFit/>
          </a:bodyPr>
          <a:lstStyle/>
          <a:p>
            <a:pPr>
              <a:spcAft>
                <a:spcPts val="1000"/>
              </a:spcAft>
              <a:defRPr sz="1700" b="0">
                <a:solidFill>
                  <a:srgbClr val="FFFFFF"/>
                </a:solidFill>
                <a:latin typeface="Menlo"/>
              </a:defRPr>
            </a:pPr>
            <a:r>
              <a:t>on:</a:t>
            </a:r>
          </a:p>
          <a:p>
            <a:pPr>
              <a:spcAft>
                <a:spcPts val="1000"/>
              </a:spcAft>
              <a:defRPr sz="1700" b="0">
                <a:solidFill>
                  <a:srgbClr val="FFFFFF"/>
                </a:solidFill>
                <a:latin typeface="Menlo"/>
              </a:defRPr>
            </a:pPr>
            <a:r>
              <a:t>  push:</a:t>
            </a:r>
          </a:p>
          <a:p>
            <a:pPr>
              <a:spcAft>
                <a:spcPts val="1000"/>
              </a:spcAft>
              <a:defRPr sz="1700" b="0">
                <a:solidFill>
                  <a:srgbClr val="FFFFFF"/>
                </a:solidFill>
                <a:latin typeface="Menlo"/>
              </a:defRPr>
            </a:pPr>
            <a:r>
              <a:t>    branches: [dev]</a:t>
            </a:r>
          </a:p>
          <a:p>
            <a:pPr>
              <a:spcAft>
                <a:spcPts val="1000"/>
              </a:spcAft>
              <a:defRPr sz="1700" b="0">
                <a:solidFill>
                  <a:srgbClr val="FFFFFF"/>
                </a:solidFill>
                <a:latin typeface="Menlo"/>
              </a:defRPr>
            </a:pPr>
            <a:r>
              <a:t>  workflow_dispatch:</a:t>
            </a:r>
          </a:p>
        </p:txBody>
      </p:sp>
      <p:sp>
        <p:nvSpPr>
          <p:cNvPr id="19" name="Rectangle 18"/>
          <p:cNvSpPr/>
          <p:nvPr/>
        </p:nvSpPr>
        <p:spPr>
          <a:xfrm>
            <a:off x="594360" y="5321808"/>
            <a:ext cx="10972800" cy="749808"/>
          </a:xfrm>
          <a:prstGeom prst="rect">
            <a:avLst/>
          </a:prstGeom>
          <a:solidFill>
            <a:srgbClr val="E5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458968"/>
            <a:ext cx="2286000" cy="411480"/>
          </a:xfrm>
          <a:prstGeom prst="rect">
            <a:avLst/>
          </a:prstGeom>
          <a:noFill/>
        </p:spPr>
        <p:txBody>
          <a:bodyPr wrap="square" lIns="0" rIns="0" tIns="0" bIns="0">
            <a:spAutoFit/>
          </a:bodyPr>
          <a:lstStyle/>
          <a:p>
            <a:pPr>
              <a:spcAft>
                <a:spcPts val="1000"/>
              </a:spcAft>
              <a:defRPr sz="1600" b="1">
                <a:solidFill>
                  <a:srgbClr val="16745A"/>
                </a:solidFill>
                <a:latin typeface="Avenir Next"/>
              </a:defRPr>
            </a:pPr>
            <a:r>
              <a:t>ENVIRONMENT</a:t>
            </a:r>
          </a:p>
        </p:txBody>
      </p:sp>
      <p:sp>
        <p:nvSpPr>
          <p:cNvPr id="21" name="TextBox 20"/>
          <p:cNvSpPr txBox="1"/>
          <p:nvPr/>
        </p:nvSpPr>
        <p:spPr>
          <a:xfrm>
            <a:off x="3063240" y="5458968"/>
            <a:ext cx="8229600" cy="457200"/>
          </a:xfrm>
          <a:prstGeom prst="rect">
            <a:avLst/>
          </a:prstGeom>
          <a:noFill/>
        </p:spPr>
        <p:txBody>
          <a:bodyPr wrap="square" lIns="0" rIns="0" tIns="0" bIns="0">
            <a:spAutoFit/>
          </a:bodyPr>
          <a:lstStyle/>
          <a:p>
            <a:pPr>
              <a:spcAft>
                <a:spcPts val="1000"/>
              </a:spcAft>
              <a:defRPr sz="1700" b="0">
                <a:solidFill>
                  <a:srgbClr val="172124"/>
                </a:solidFill>
                <a:latin typeface="Avenir Next"/>
              </a:defRPr>
            </a:pPr>
            <a:r>
              <a:t>The job uses dev for its GitHub deployment secret.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67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274320"/>
          </a:xfrm>
          <a:prstGeom prst="rect">
            <a:avLst/>
          </a:prstGeom>
          <a:noFill/>
        </p:spPr>
        <p:txBody>
          <a:bodyPr wrap="square" lIns="0" rIns="0" tIns="0" bIns="0">
            <a:spAutoFit/>
          </a:bodyPr>
          <a:lstStyle/>
          <a:p>
            <a:pPr>
              <a:spcAft>
                <a:spcPts val="1000"/>
              </a:spcAft>
              <a:defRPr sz="1200" b="1">
                <a:solidFill>
                  <a:srgbClr val="16745A"/>
                </a:solidFill>
                <a:latin typeface="Avenir Next"/>
              </a:defRPr>
            </a:pPr>
            <a:r>
              <a:t>02 / PREPARE</a:t>
            </a:r>
          </a:p>
        </p:txBody>
      </p:sp>
      <p:sp>
        <p:nvSpPr>
          <p:cNvPr id="4" name="TextBox 3"/>
          <p:cNvSpPr txBox="1"/>
          <p:nvPr/>
        </p:nvSpPr>
        <p:spPr>
          <a:xfrm>
            <a:off x="594360" y="896112"/>
            <a:ext cx="10972800" cy="685800"/>
          </a:xfrm>
          <a:prstGeom prst="rect">
            <a:avLst/>
          </a:prstGeom>
          <a:noFill/>
        </p:spPr>
        <p:txBody>
          <a:bodyPr wrap="square" lIns="0" rIns="0" tIns="0" bIns="0">
            <a:spAutoFit/>
          </a:bodyPr>
          <a:lstStyle/>
          <a:p>
            <a:pPr>
              <a:spcAft>
                <a:spcPts val="1000"/>
              </a:spcAft>
              <a:defRPr sz="3400" b="1">
                <a:solidFill>
                  <a:srgbClr val="172124"/>
                </a:solidFill>
                <a:latin typeface="Avenir Next"/>
              </a:defRPr>
            </a:pPr>
            <a:r>
              <a:t>GitHub gives us a build machine.</a:t>
            </a:r>
          </a:p>
        </p:txBody>
      </p:sp>
      <p:sp>
        <p:nvSpPr>
          <p:cNvPr id="5" name="TextBox 4"/>
          <p:cNvSpPr txBox="1"/>
          <p:nvPr/>
        </p:nvSpPr>
        <p:spPr>
          <a:xfrm>
            <a:off x="594360" y="1709928"/>
            <a:ext cx="10881360" cy="59436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A runner is simply a temporary computer that executes our steps.</a:t>
            </a:r>
          </a:p>
        </p:txBody>
      </p:sp>
      <p:sp>
        <p:nvSpPr>
          <p:cNvPr id="6" name="Rectangle 5"/>
          <p:cNvSpPr/>
          <p:nvPr/>
        </p:nvSpPr>
        <p:spPr>
          <a:xfrm>
            <a:off x="594360" y="6345936"/>
            <a:ext cx="10972800" cy="13716"/>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92240"/>
            <a:ext cx="7315200" cy="228600"/>
          </a:xfrm>
          <a:prstGeom prst="rect">
            <a:avLst/>
          </a:prstGeom>
          <a:noFill/>
        </p:spPr>
        <p:txBody>
          <a:bodyPr wrap="square" lIns="0" rIns="0" tIns="0" bIns="0">
            <a:spAutoFit/>
          </a:bodyPr>
          <a:lstStyle/>
          <a:p>
            <a:pPr>
              <a:spcAft>
                <a:spcPts val="1000"/>
              </a:spcAft>
              <a:defRPr sz="1000" b="0">
                <a:solidFill>
                  <a:srgbClr val="526168"/>
                </a:solidFill>
                <a:latin typeface="Avenir Next"/>
              </a:defRPr>
            </a:pPr>
            <a:r>
              <a:t>TASK LIST  /  TEAM WALKTHROUGH</a:t>
            </a:r>
          </a:p>
        </p:txBody>
      </p:sp>
      <p:sp>
        <p:nvSpPr>
          <p:cNvPr id="8" name="TextBox 7"/>
          <p:cNvSpPr txBox="1"/>
          <p:nvPr/>
        </p:nvSpPr>
        <p:spPr>
          <a:xfrm>
            <a:off x="10652760" y="6473952"/>
            <a:ext cx="914400" cy="256032"/>
          </a:xfrm>
          <a:prstGeom prst="rect">
            <a:avLst/>
          </a:prstGeom>
          <a:noFill/>
        </p:spPr>
        <p:txBody>
          <a:bodyPr wrap="square" lIns="0" rIns="0" tIns="0" bIns="0">
            <a:spAutoFit/>
          </a:bodyPr>
          <a:lstStyle/>
          <a:p>
            <a:pPr>
              <a:spcAft>
                <a:spcPts val="1000"/>
              </a:spcAft>
              <a:defRPr sz="1100" b="0">
                <a:solidFill>
                  <a:srgbClr val="526168"/>
                </a:solidFill>
                <a:latin typeface="Avenir Next"/>
              </a:defRPr>
            </a:pPr>
            <a:r>
              <a:t>03 / 08</a:t>
            </a:r>
          </a:p>
        </p:txBody>
      </p:sp>
      <p:sp>
        <p:nvSpPr>
          <p:cNvPr id="9" name="Rectangle 8"/>
          <p:cNvSpPr/>
          <p:nvPr/>
        </p:nvSpPr>
        <p:spPr>
          <a:xfrm>
            <a:off x="594360" y="2606040"/>
            <a:ext cx="3657600" cy="2331720"/>
          </a:xfrm>
          <a:prstGeom prst="rect">
            <a:avLst/>
          </a:prstGeom>
          <a:solidFill>
            <a:srgbClr val="E8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34640"/>
            <a:ext cx="3108960" cy="365760"/>
          </a:xfrm>
          <a:prstGeom prst="rect">
            <a:avLst/>
          </a:prstGeom>
          <a:noFill/>
        </p:spPr>
        <p:txBody>
          <a:bodyPr wrap="square" lIns="0" rIns="0" tIns="0" bIns="0">
            <a:spAutoFit/>
          </a:bodyPr>
          <a:lstStyle/>
          <a:p>
            <a:pPr>
              <a:spcAft>
                <a:spcPts val="1000"/>
              </a:spcAft>
              <a:defRPr sz="1300" b="1">
                <a:solidFill>
                  <a:srgbClr val="1569D4"/>
                </a:solidFill>
                <a:latin typeface="Avenir Next"/>
              </a:defRPr>
            </a:pPr>
            <a:r>
              <a:t>GITHUB-HOSTED RUNNER</a:t>
            </a:r>
          </a:p>
        </p:txBody>
      </p:sp>
      <p:sp>
        <p:nvSpPr>
          <p:cNvPr id="11" name="TextBox 10"/>
          <p:cNvSpPr txBox="1"/>
          <p:nvPr/>
        </p:nvSpPr>
        <p:spPr>
          <a:xfrm>
            <a:off x="868680" y="3337560"/>
            <a:ext cx="3108960" cy="1143000"/>
          </a:xfrm>
          <a:prstGeom prst="rect">
            <a:avLst/>
          </a:prstGeom>
          <a:noFill/>
        </p:spPr>
        <p:txBody>
          <a:bodyPr wrap="square" lIns="0" rIns="0" tIns="0" bIns="0">
            <a:spAutoFit/>
          </a:bodyPr>
          <a:lstStyle/>
          <a:p>
            <a:pPr>
              <a:spcAft>
                <a:spcPts val="1000"/>
              </a:spcAft>
              <a:defRPr sz="2800" b="1">
                <a:solidFill>
                  <a:srgbClr val="172124"/>
                </a:solidFill>
                <a:latin typeface="Avenir Next"/>
              </a:defRPr>
            </a:pPr>
            <a:r>
              <a:t>Temporary</a:t>
            </a:r>
          </a:p>
          <a:p>
            <a:pPr>
              <a:spcAft>
                <a:spcPts val="1000"/>
              </a:spcAft>
              <a:defRPr sz="2800" b="1">
                <a:solidFill>
                  <a:srgbClr val="172124"/>
                </a:solidFill>
                <a:latin typeface="Avenir Next"/>
              </a:defRPr>
            </a:pPr>
            <a:r>
              <a:t>Ubuntu machine</a:t>
            </a:r>
          </a:p>
        </p:txBody>
      </p:sp>
      <p:sp>
        <p:nvSpPr>
          <p:cNvPr id="12" name="Rectangle 11"/>
          <p:cNvSpPr/>
          <p:nvPr/>
        </p:nvSpPr>
        <p:spPr>
          <a:xfrm>
            <a:off x="4754880" y="2606040"/>
            <a:ext cx="2834640" cy="45720"/>
          </a:xfrm>
          <a:prstGeom prst="rect">
            <a:avLst/>
          </a:prstGeom>
          <a:solidFill>
            <a:srgbClr val="156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2788920"/>
            <a:ext cx="2834640" cy="365760"/>
          </a:xfrm>
          <a:prstGeom prst="rect">
            <a:avLst/>
          </a:prstGeom>
          <a:noFill/>
        </p:spPr>
        <p:txBody>
          <a:bodyPr wrap="square" lIns="0" rIns="0" tIns="0" bIns="0">
            <a:spAutoFit/>
          </a:bodyPr>
          <a:lstStyle/>
          <a:p>
            <a:pPr>
              <a:spcAft>
                <a:spcPts val="1000"/>
              </a:spcAft>
              <a:defRPr sz="1300" b="1">
                <a:solidFill>
                  <a:srgbClr val="1569D4"/>
                </a:solidFill>
                <a:latin typeface="Avenir Next"/>
              </a:defRPr>
            </a:pPr>
            <a:r>
              <a:t>STEP 1</a:t>
            </a:r>
          </a:p>
        </p:txBody>
      </p:sp>
      <p:sp>
        <p:nvSpPr>
          <p:cNvPr id="14" name="TextBox 13"/>
          <p:cNvSpPr txBox="1"/>
          <p:nvPr/>
        </p:nvSpPr>
        <p:spPr>
          <a:xfrm>
            <a:off x="4754880" y="3300984"/>
            <a:ext cx="283464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Download code</a:t>
            </a:r>
          </a:p>
        </p:txBody>
      </p:sp>
      <p:sp>
        <p:nvSpPr>
          <p:cNvPr id="15" name="TextBox 14"/>
          <p:cNvSpPr txBox="1"/>
          <p:nvPr/>
        </p:nvSpPr>
        <p:spPr>
          <a:xfrm>
            <a:off x="4754880" y="3977639"/>
            <a:ext cx="283464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actions/checkout@v4</a:t>
            </a:r>
          </a:p>
          <a:p>
            <a:pPr>
              <a:spcAft>
                <a:spcPts val="1000"/>
              </a:spcAft>
              <a:defRPr sz="1800" b="0">
                <a:solidFill>
                  <a:srgbClr val="526168"/>
                </a:solidFill>
                <a:latin typeface="Avenir Next"/>
              </a:defRPr>
            </a:pPr>
            <a:r>
              <a:t>fetches our repository.</a:t>
            </a:r>
          </a:p>
        </p:txBody>
      </p:sp>
      <p:sp>
        <p:nvSpPr>
          <p:cNvPr id="16" name="Rectangle 15"/>
          <p:cNvSpPr/>
          <p:nvPr/>
        </p:nvSpPr>
        <p:spPr>
          <a:xfrm>
            <a:off x="8229600" y="2606040"/>
            <a:ext cx="3017520" cy="45720"/>
          </a:xfrm>
          <a:prstGeom prst="rect">
            <a:avLst/>
          </a:prstGeom>
          <a:solidFill>
            <a:srgbClr val="167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2788920"/>
            <a:ext cx="3017520" cy="365760"/>
          </a:xfrm>
          <a:prstGeom prst="rect">
            <a:avLst/>
          </a:prstGeom>
          <a:noFill/>
        </p:spPr>
        <p:txBody>
          <a:bodyPr wrap="square" lIns="0" rIns="0" tIns="0" bIns="0">
            <a:spAutoFit/>
          </a:bodyPr>
          <a:lstStyle/>
          <a:p>
            <a:pPr>
              <a:spcAft>
                <a:spcPts val="1000"/>
              </a:spcAft>
              <a:defRPr sz="1300" b="1">
                <a:solidFill>
                  <a:srgbClr val="16745A"/>
                </a:solidFill>
                <a:latin typeface="Avenir Next"/>
              </a:defRPr>
            </a:pPr>
            <a:r>
              <a:t>STEP 2</a:t>
            </a:r>
          </a:p>
        </p:txBody>
      </p:sp>
      <p:sp>
        <p:nvSpPr>
          <p:cNvPr id="18" name="TextBox 17"/>
          <p:cNvSpPr txBox="1"/>
          <p:nvPr/>
        </p:nvSpPr>
        <p:spPr>
          <a:xfrm>
            <a:off x="8229600" y="3300984"/>
            <a:ext cx="301752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Install .NET</a:t>
            </a:r>
          </a:p>
        </p:txBody>
      </p:sp>
      <p:sp>
        <p:nvSpPr>
          <p:cNvPr id="19" name="TextBox 18"/>
          <p:cNvSpPr txBox="1"/>
          <p:nvPr/>
        </p:nvSpPr>
        <p:spPr>
          <a:xfrm>
            <a:off x="8229600" y="3977639"/>
            <a:ext cx="301752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actions/setup-dotnet@v4</a:t>
            </a:r>
          </a:p>
          <a:p>
            <a:pPr>
              <a:spcAft>
                <a:spcPts val="1000"/>
              </a:spcAft>
              <a:defRPr sz="1800" b="0">
                <a:solidFill>
                  <a:srgbClr val="526168"/>
                </a:solidFill>
                <a:latin typeface="Avenir Next"/>
              </a:defRPr>
            </a:pPr>
            <a:r>
              <a:t>installs the .NET 10 SDK.</a:t>
            </a:r>
          </a:p>
        </p:txBody>
      </p:sp>
      <p:sp>
        <p:nvSpPr>
          <p:cNvPr id="20" name="Rectangle 19"/>
          <p:cNvSpPr/>
          <p:nvPr/>
        </p:nvSpPr>
        <p:spPr>
          <a:xfrm>
            <a:off x="594360" y="5321808"/>
            <a:ext cx="10972800" cy="749808"/>
          </a:xfrm>
          <a:prstGeom prst="rect">
            <a:avLst/>
          </a:prstGeom>
          <a:solidFill>
            <a:srgbClr val="E5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458968"/>
            <a:ext cx="2286000" cy="411480"/>
          </a:xfrm>
          <a:prstGeom prst="rect">
            <a:avLst/>
          </a:prstGeom>
          <a:noFill/>
        </p:spPr>
        <p:txBody>
          <a:bodyPr wrap="square" lIns="0" rIns="0" tIns="0" bIns="0">
            <a:spAutoFit/>
          </a:bodyPr>
          <a:lstStyle/>
          <a:p>
            <a:pPr>
              <a:spcAft>
                <a:spcPts val="1000"/>
              </a:spcAft>
              <a:defRPr sz="1600" b="1">
                <a:solidFill>
                  <a:srgbClr val="16745A"/>
                </a:solidFill>
                <a:latin typeface="Avenir Next"/>
              </a:defRPr>
            </a:pPr>
            <a:r>
              <a:t>GOOD TO KNOW</a:t>
            </a:r>
          </a:p>
        </p:txBody>
      </p:sp>
      <p:sp>
        <p:nvSpPr>
          <p:cNvPr id="22" name="TextBox 21"/>
          <p:cNvSpPr txBox="1"/>
          <p:nvPr/>
        </p:nvSpPr>
        <p:spPr>
          <a:xfrm>
            <a:off x="3063240" y="5458968"/>
            <a:ext cx="8229600" cy="457200"/>
          </a:xfrm>
          <a:prstGeom prst="rect">
            <a:avLst/>
          </a:prstGeom>
          <a:noFill/>
        </p:spPr>
        <p:txBody>
          <a:bodyPr wrap="square" lIns="0" rIns="0" tIns="0" bIns="0">
            <a:spAutoFit/>
          </a:bodyPr>
          <a:lstStyle/>
          <a:p>
            <a:pPr>
              <a:spcAft>
                <a:spcPts val="1000"/>
              </a:spcAft>
              <a:defRPr sz="1700" b="0">
                <a:solidFill>
                  <a:srgbClr val="172124"/>
                </a:solidFill>
                <a:latin typeface="Avenir Next"/>
              </a:defRPr>
            </a:pPr>
            <a:r>
              <a:t>The runner builds the app; it does not host our website.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67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274320"/>
          </a:xfrm>
          <a:prstGeom prst="rect">
            <a:avLst/>
          </a:prstGeom>
          <a:noFill/>
        </p:spPr>
        <p:txBody>
          <a:bodyPr wrap="square" lIns="0" rIns="0" tIns="0" bIns="0">
            <a:spAutoFit/>
          </a:bodyPr>
          <a:lstStyle/>
          <a:p>
            <a:pPr>
              <a:spcAft>
                <a:spcPts val="1000"/>
              </a:spcAft>
              <a:defRPr sz="1200" b="1">
                <a:solidFill>
                  <a:srgbClr val="16745A"/>
                </a:solidFill>
                <a:latin typeface="Avenir Next"/>
              </a:defRPr>
            </a:pPr>
            <a:r>
              <a:t>03 / BUILD</a:t>
            </a:r>
          </a:p>
        </p:txBody>
      </p:sp>
      <p:sp>
        <p:nvSpPr>
          <p:cNvPr id="4" name="TextBox 3"/>
          <p:cNvSpPr txBox="1"/>
          <p:nvPr/>
        </p:nvSpPr>
        <p:spPr>
          <a:xfrm>
            <a:off x="594360" y="896112"/>
            <a:ext cx="10972800" cy="685800"/>
          </a:xfrm>
          <a:prstGeom prst="rect">
            <a:avLst/>
          </a:prstGeom>
          <a:noFill/>
        </p:spPr>
        <p:txBody>
          <a:bodyPr wrap="square" lIns="0" rIns="0" tIns="0" bIns="0">
            <a:spAutoFit/>
          </a:bodyPr>
          <a:lstStyle/>
          <a:p>
            <a:pPr>
              <a:spcAft>
                <a:spcPts val="1000"/>
              </a:spcAft>
              <a:defRPr sz="3400" b="1">
                <a:solidFill>
                  <a:srgbClr val="172124"/>
                </a:solidFill>
                <a:latin typeface="Avenir Next"/>
              </a:defRPr>
            </a:pPr>
            <a:r>
              <a:t>Publish turns code into runnable files.</a:t>
            </a:r>
          </a:p>
        </p:txBody>
      </p:sp>
      <p:sp>
        <p:nvSpPr>
          <p:cNvPr id="5" name="TextBox 4"/>
          <p:cNvSpPr txBox="1"/>
          <p:nvPr/>
        </p:nvSpPr>
        <p:spPr>
          <a:xfrm>
            <a:off x="594360" y="1709928"/>
            <a:ext cx="10881360" cy="59436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We send Azure the finished application, not the source project.</a:t>
            </a:r>
          </a:p>
        </p:txBody>
      </p:sp>
      <p:sp>
        <p:nvSpPr>
          <p:cNvPr id="6" name="Rectangle 5"/>
          <p:cNvSpPr/>
          <p:nvPr/>
        </p:nvSpPr>
        <p:spPr>
          <a:xfrm>
            <a:off x="594360" y="6345936"/>
            <a:ext cx="10972800" cy="13716"/>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92240"/>
            <a:ext cx="7315200" cy="228600"/>
          </a:xfrm>
          <a:prstGeom prst="rect">
            <a:avLst/>
          </a:prstGeom>
          <a:noFill/>
        </p:spPr>
        <p:txBody>
          <a:bodyPr wrap="square" lIns="0" rIns="0" tIns="0" bIns="0">
            <a:spAutoFit/>
          </a:bodyPr>
          <a:lstStyle/>
          <a:p>
            <a:pPr>
              <a:spcAft>
                <a:spcPts val="1000"/>
              </a:spcAft>
              <a:defRPr sz="1000" b="0">
                <a:solidFill>
                  <a:srgbClr val="526168"/>
                </a:solidFill>
                <a:latin typeface="Avenir Next"/>
              </a:defRPr>
            </a:pPr>
            <a:r>
              <a:t>TASK LIST  /  TEAM WALKTHROUGH</a:t>
            </a:r>
          </a:p>
        </p:txBody>
      </p:sp>
      <p:sp>
        <p:nvSpPr>
          <p:cNvPr id="8" name="TextBox 7"/>
          <p:cNvSpPr txBox="1"/>
          <p:nvPr/>
        </p:nvSpPr>
        <p:spPr>
          <a:xfrm>
            <a:off x="10652760" y="6473952"/>
            <a:ext cx="914400" cy="256032"/>
          </a:xfrm>
          <a:prstGeom prst="rect">
            <a:avLst/>
          </a:prstGeom>
          <a:noFill/>
        </p:spPr>
        <p:txBody>
          <a:bodyPr wrap="square" lIns="0" rIns="0" tIns="0" bIns="0">
            <a:spAutoFit/>
          </a:bodyPr>
          <a:lstStyle/>
          <a:p>
            <a:pPr>
              <a:spcAft>
                <a:spcPts val="1000"/>
              </a:spcAft>
              <a:defRPr sz="1100" b="0">
                <a:solidFill>
                  <a:srgbClr val="526168"/>
                </a:solidFill>
                <a:latin typeface="Avenir Next"/>
              </a:defRPr>
            </a:pPr>
            <a:r>
              <a:t>04 / 08</a:t>
            </a:r>
          </a:p>
        </p:txBody>
      </p:sp>
      <p:sp>
        <p:nvSpPr>
          <p:cNvPr id="9" name="Rectangle 8"/>
          <p:cNvSpPr/>
          <p:nvPr/>
        </p:nvSpPr>
        <p:spPr>
          <a:xfrm>
            <a:off x="594360" y="2606040"/>
            <a:ext cx="6400800" cy="2148840"/>
          </a:xfrm>
          <a:prstGeom prst="rect">
            <a:avLst/>
          </a:prstGeom>
          <a:solidFill>
            <a:srgbClr val="202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34640"/>
            <a:ext cx="5943600" cy="1691640"/>
          </a:xfrm>
          <a:prstGeom prst="rect">
            <a:avLst/>
          </a:prstGeom>
          <a:noFill/>
        </p:spPr>
        <p:txBody>
          <a:bodyPr wrap="square" lIns="0" rIns="0" tIns="0" bIns="0">
            <a:spAutoFit/>
          </a:bodyPr>
          <a:lstStyle/>
          <a:p>
            <a:pPr>
              <a:spcAft>
                <a:spcPts val="1000"/>
              </a:spcAft>
              <a:defRPr sz="1700" b="0">
                <a:solidFill>
                  <a:srgbClr val="FFFFFF"/>
                </a:solidFill>
                <a:latin typeface="Menlo"/>
              </a:defRPr>
            </a:pPr>
            <a:r>
              <a:t>dotnet publish TaskApp.csproj</a:t>
            </a:r>
          </a:p>
          <a:p>
            <a:pPr>
              <a:spcAft>
                <a:spcPts val="1000"/>
              </a:spcAft>
              <a:defRPr sz="1700" b="0">
                <a:solidFill>
                  <a:srgbClr val="FFFFFF"/>
                </a:solidFill>
                <a:latin typeface="Menlo"/>
              </a:defRPr>
            </a:pPr>
            <a:r>
              <a:t>  --configuration Release</a:t>
            </a:r>
          </a:p>
          <a:p>
            <a:pPr>
              <a:spcAft>
                <a:spcPts val="1000"/>
              </a:spcAft>
              <a:defRPr sz="1700" b="0">
                <a:solidFill>
                  <a:srgbClr val="FFFFFF"/>
                </a:solidFill>
                <a:latin typeface="Menlo"/>
              </a:defRPr>
            </a:pPr>
            <a:r>
              <a:t>  --output "${{ runner.temp }}/task-app"</a:t>
            </a:r>
          </a:p>
        </p:txBody>
      </p:sp>
      <p:sp>
        <p:nvSpPr>
          <p:cNvPr id="11" name="TextBox 10"/>
          <p:cNvSpPr txBox="1"/>
          <p:nvPr/>
        </p:nvSpPr>
        <p:spPr>
          <a:xfrm>
            <a:off x="594360" y="4901184"/>
            <a:ext cx="2560320" cy="320040"/>
          </a:xfrm>
          <a:prstGeom prst="rect">
            <a:avLst/>
          </a:prstGeom>
          <a:noFill/>
        </p:spPr>
        <p:txBody>
          <a:bodyPr wrap="square" lIns="0" rIns="0" tIns="0" bIns="0">
            <a:spAutoFit/>
          </a:bodyPr>
          <a:lstStyle/>
          <a:p>
            <a:pPr>
              <a:spcAft>
                <a:spcPts val="1000"/>
              </a:spcAft>
              <a:defRPr sz="1300" b="1">
                <a:solidFill>
                  <a:srgbClr val="1569D4"/>
                </a:solidFill>
                <a:latin typeface="Avenir Next"/>
              </a:defRPr>
            </a:pPr>
            <a:r>
              <a:t>WHAT THIS DOES</a:t>
            </a:r>
          </a:p>
        </p:txBody>
      </p:sp>
      <p:sp>
        <p:nvSpPr>
          <p:cNvPr id="12" name="TextBox 11"/>
          <p:cNvSpPr txBox="1"/>
          <p:nvPr/>
        </p:nvSpPr>
        <p:spPr>
          <a:xfrm>
            <a:off x="594360" y="5340096"/>
            <a:ext cx="6400800" cy="640080"/>
          </a:xfrm>
          <a:prstGeom prst="rect">
            <a:avLst/>
          </a:prstGeom>
          <a:noFill/>
        </p:spPr>
        <p:txBody>
          <a:bodyPr wrap="square" lIns="0" rIns="0" tIns="0" bIns="0">
            <a:spAutoFit/>
          </a:bodyPr>
          <a:lstStyle/>
          <a:p>
            <a:pPr>
              <a:spcAft>
                <a:spcPts val="1000"/>
              </a:spcAft>
              <a:defRPr sz="1900" b="0">
                <a:solidFill>
                  <a:srgbClr val="172124"/>
                </a:solidFill>
                <a:latin typeface="Avenir Next"/>
              </a:defRPr>
            </a:pPr>
            <a:r>
              <a:t>Restore dependencies  /  Compile  /  Collect files</a:t>
            </a:r>
          </a:p>
        </p:txBody>
      </p:sp>
      <p:sp>
        <p:nvSpPr>
          <p:cNvPr id="13" name="Rectangle 12"/>
          <p:cNvSpPr/>
          <p:nvPr/>
        </p:nvSpPr>
        <p:spPr>
          <a:xfrm>
            <a:off x="7543800" y="2606040"/>
            <a:ext cx="4023360" cy="3200400"/>
          </a:xfrm>
          <a:prstGeom prst="rect">
            <a:avLst/>
          </a:prstGeom>
          <a:solidFill>
            <a:srgbClr val="FFFFFF"/>
          </a:solidFill>
          <a:ln>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20" y="2834640"/>
            <a:ext cx="3474720" cy="411480"/>
          </a:xfrm>
          <a:prstGeom prst="rect">
            <a:avLst/>
          </a:prstGeom>
          <a:noFill/>
        </p:spPr>
        <p:txBody>
          <a:bodyPr wrap="square" lIns="0" rIns="0" tIns="0" bIns="0">
            <a:spAutoFit/>
          </a:bodyPr>
          <a:lstStyle/>
          <a:p>
            <a:pPr>
              <a:spcAft>
                <a:spcPts val="1000"/>
              </a:spcAft>
              <a:defRPr sz="2200" b="1">
                <a:solidFill>
                  <a:srgbClr val="16745A"/>
                </a:solidFill>
                <a:latin typeface="Menlo"/>
              </a:defRPr>
            </a:pPr>
            <a:r>
              <a:t>task-app/</a:t>
            </a:r>
          </a:p>
        </p:txBody>
      </p:sp>
      <p:sp>
        <p:nvSpPr>
          <p:cNvPr id="15" name="TextBox 14"/>
          <p:cNvSpPr txBox="1"/>
          <p:nvPr/>
        </p:nvSpPr>
        <p:spPr>
          <a:xfrm>
            <a:off x="7818120" y="3520440"/>
            <a:ext cx="3474720" cy="1874519"/>
          </a:xfrm>
          <a:prstGeom prst="rect">
            <a:avLst/>
          </a:prstGeom>
          <a:noFill/>
        </p:spPr>
        <p:txBody>
          <a:bodyPr wrap="square" lIns="0" rIns="0" tIns="0" bIns="0">
            <a:spAutoFit/>
          </a:bodyPr>
          <a:lstStyle/>
          <a:p>
            <a:pPr>
              <a:spcAft>
                <a:spcPts val="1000"/>
              </a:spcAft>
              <a:defRPr sz="1900" b="0">
                <a:solidFill>
                  <a:srgbClr val="172124"/>
                </a:solidFill>
                <a:latin typeface="Avenir Next"/>
              </a:defRPr>
            </a:pPr>
            <a:r>
              <a:t>TaskApp.dll</a:t>
            </a:r>
          </a:p>
          <a:p>
            <a:pPr>
              <a:spcAft>
                <a:spcPts val="1000"/>
              </a:spcAft>
              <a:defRPr sz="1900" b="0">
                <a:solidFill>
                  <a:srgbClr val="172124"/>
                </a:solidFill>
                <a:latin typeface="Avenir Next"/>
              </a:defRPr>
            </a:pPr>
            <a:r>
              <a:t>Dependencies</a:t>
            </a:r>
          </a:p>
          <a:p>
            <a:pPr>
              <a:spcAft>
                <a:spcPts val="1000"/>
              </a:spcAft>
              <a:defRPr sz="1900" b="0">
                <a:solidFill>
                  <a:srgbClr val="172124"/>
                </a:solidFill>
                <a:latin typeface="Avenir Next"/>
              </a:defRPr>
            </a:pPr>
            <a:r>
              <a:t>Runtime configuration</a:t>
            </a:r>
          </a:p>
          <a:p>
            <a:pPr>
              <a:spcAft>
                <a:spcPts val="1000"/>
              </a:spcAft>
              <a:defRPr sz="1900" b="0">
                <a:solidFill>
                  <a:srgbClr val="172124"/>
                </a:solidFill>
                <a:latin typeface="Avenir Next"/>
              </a:defRPr>
            </a:pPr>
            <a:r>
              <a:t>wwwroot/ assets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67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274320"/>
          </a:xfrm>
          <a:prstGeom prst="rect">
            <a:avLst/>
          </a:prstGeom>
          <a:noFill/>
        </p:spPr>
        <p:txBody>
          <a:bodyPr wrap="square" lIns="0" rIns="0" tIns="0" bIns="0">
            <a:spAutoFit/>
          </a:bodyPr>
          <a:lstStyle/>
          <a:p>
            <a:pPr>
              <a:spcAft>
                <a:spcPts val="1000"/>
              </a:spcAft>
              <a:defRPr sz="1200" b="1">
                <a:solidFill>
                  <a:srgbClr val="16745A"/>
                </a:solidFill>
                <a:latin typeface="Avenir Next"/>
              </a:defRPr>
            </a:pPr>
            <a:r>
              <a:t>04 / ACCESS</a:t>
            </a:r>
          </a:p>
        </p:txBody>
      </p:sp>
      <p:sp>
        <p:nvSpPr>
          <p:cNvPr id="4" name="TextBox 3"/>
          <p:cNvSpPr txBox="1"/>
          <p:nvPr/>
        </p:nvSpPr>
        <p:spPr>
          <a:xfrm>
            <a:off x="594360" y="896112"/>
            <a:ext cx="10972800" cy="685800"/>
          </a:xfrm>
          <a:prstGeom prst="rect">
            <a:avLst/>
          </a:prstGeom>
          <a:noFill/>
        </p:spPr>
        <p:txBody>
          <a:bodyPr wrap="square" lIns="0" rIns="0" tIns="0" bIns="0">
            <a:spAutoFit/>
          </a:bodyPr>
          <a:lstStyle/>
          <a:p>
            <a:pPr>
              <a:spcAft>
                <a:spcPts val="1000"/>
              </a:spcAft>
              <a:defRPr sz="3400" b="1">
                <a:solidFill>
                  <a:srgbClr val="172124"/>
                </a:solidFill>
                <a:latin typeface="Avenir Next"/>
              </a:defRPr>
            </a:pPr>
            <a:r>
              <a:t>The publish profile is our deployment key.</a:t>
            </a:r>
          </a:p>
        </p:txBody>
      </p:sp>
      <p:sp>
        <p:nvSpPr>
          <p:cNvPr id="5" name="TextBox 4"/>
          <p:cNvSpPr txBox="1"/>
          <p:nvPr/>
        </p:nvSpPr>
        <p:spPr>
          <a:xfrm>
            <a:off x="594360" y="1709928"/>
            <a:ext cx="10881360" cy="59436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It lets this workflow upload files to one App Service.</a:t>
            </a:r>
          </a:p>
        </p:txBody>
      </p:sp>
      <p:sp>
        <p:nvSpPr>
          <p:cNvPr id="6" name="Rectangle 5"/>
          <p:cNvSpPr/>
          <p:nvPr/>
        </p:nvSpPr>
        <p:spPr>
          <a:xfrm>
            <a:off x="594360" y="6345936"/>
            <a:ext cx="10972800" cy="13716"/>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92240"/>
            <a:ext cx="7315200" cy="228600"/>
          </a:xfrm>
          <a:prstGeom prst="rect">
            <a:avLst/>
          </a:prstGeom>
          <a:noFill/>
        </p:spPr>
        <p:txBody>
          <a:bodyPr wrap="square" lIns="0" rIns="0" tIns="0" bIns="0">
            <a:spAutoFit/>
          </a:bodyPr>
          <a:lstStyle/>
          <a:p>
            <a:pPr>
              <a:spcAft>
                <a:spcPts val="1000"/>
              </a:spcAft>
              <a:defRPr sz="1000" b="0">
                <a:solidFill>
                  <a:srgbClr val="526168"/>
                </a:solidFill>
                <a:latin typeface="Avenir Next"/>
              </a:defRPr>
            </a:pPr>
            <a:r>
              <a:t>TASK LIST  /  TEAM WALKTHROUGH</a:t>
            </a:r>
          </a:p>
        </p:txBody>
      </p:sp>
      <p:sp>
        <p:nvSpPr>
          <p:cNvPr id="8" name="TextBox 7"/>
          <p:cNvSpPr txBox="1"/>
          <p:nvPr/>
        </p:nvSpPr>
        <p:spPr>
          <a:xfrm>
            <a:off x="10652760" y="6473952"/>
            <a:ext cx="914400" cy="256032"/>
          </a:xfrm>
          <a:prstGeom prst="rect">
            <a:avLst/>
          </a:prstGeom>
          <a:noFill/>
        </p:spPr>
        <p:txBody>
          <a:bodyPr wrap="square" lIns="0" rIns="0" tIns="0" bIns="0">
            <a:spAutoFit/>
          </a:bodyPr>
          <a:lstStyle/>
          <a:p>
            <a:pPr>
              <a:spcAft>
                <a:spcPts val="1000"/>
              </a:spcAft>
              <a:defRPr sz="1100" b="0">
                <a:solidFill>
                  <a:srgbClr val="526168"/>
                </a:solidFill>
                <a:latin typeface="Avenir Next"/>
              </a:defRPr>
            </a:pPr>
            <a:r>
              <a:t>05 / 08</a:t>
            </a:r>
          </a:p>
        </p:txBody>
      </p:sp>
      <p:sp>
        <p:nvSpPr>
          <p:cNvPr id="9" name="Rectangle 8"/>
          <p:cNvSpPr/>
          <p:nvPr/>
        </p:nvSpPr>
        <p:spPr>
          <a:xfrm>
            <a:off x="594360" y="2560320"/>
            <a:ext cx="3246120" cy="45720"/>
          </a:xfrm>
          <a:prstGeom prst="rect">
            <a:avLst/>
          </a:prstGeom>
          <a:solidFill>
            <a:srgbClr val="156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743200"/>
            <a:ext cx="3246120" cy="365760"/>
          </a:xfrm>
          <a:prstGeom prst="rect">
            <a:avLst/>
          </a:prstGeom>
          <a:noFill/>
        </p:spPr>
        <p:txBody>
          <a:bodyPr wrap="square" lIns="0" rIns="0" tIns="0" bIns="0">
            <a:spAutoFit/>
          </a:bodyPr>
          <a:lstStyle/>
          <a:p>
            <a:pPr>
              <a:spcAft>
                <a:spcPts val="1000"/>
              </a:spcAft>
              <a:defRPr sz="1300" b="1">
                <a:solidFill>
                  <a:srgbClr val="1569D4"/>
                </a:solidFill>
                <a:latin typeface="Avenir Next"/>
              </a:defRPr>
            </a:pPr>
            <a:r>
              <a:t>AZURE PORTAL</a:t>
            </a:r>
          </a:p>
        </p:txBody>
      </p:sp>
      <p:sp>
        <p:nvSpPr>
          <p:cNvPr id="11" name="TextBox 10"/>
          <p:cNvSpPr txBox="1"/>
          <p:nvPr/>
        </p:nvSpPr>
        <p:spPr>
          <a:xfrm>
            <a:off x="594360" y="3255263"/>
            <a:ext cx="324612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Download</a:t>
            </a:r>
          </a:p>
        </p:txBody>
      </p:sp>
      <p:sp>
        <p:nvSpPr>
          <p:cNvPr id="12" name="TextBox 11"/>
          <p:cNvSpPr txBox="1"/>
          <p:nvPr/>
        </p:nvSpPr>
        <p:spPr>
          <a:xfrm>
            <a:off x="594360" y="3931920"/>
            <a:ext cx="324612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Enable SCM basic auth.</a:t>
            </a:r>
          </a:p>
          <a:p>
            <a:pPr>
              <a:spcAft>
                <a:spcPts val="1000"/>
              </a:spcAft>
              <a:defRPr sz="1800" b="0">
                <a:solidFill>
                  <a:srgbClr val="526168"/>
                </a:solidFill>
                <a:latin typeface="Avenir Next"/>
              </a:defRPr>
            </a:pPr>
            <a:r>
              <a:t>Download the profile.</a:t>
            </a:r>
          </a:p>
        </p:txBody>
      </p:sp>
      <p:sp>
        <p:nvSpPr>
          <p:cNvPr id="13" name="Rectangle 12"/>
          <p:cNvSpPr/>
          <p:nvPr/>
        </p:nvSpPr>
        <p:spPr>
          <a:xfrm>
            <a:off x="4343400" y="2560320"/>
            <a:ext cx="3246120" cy="45720"/>
          </a:xfrm>
          <a:prstGeom prst="rect">
            <a:avLst/>
          </a:prstGeom>
          <a:solidFill>
            <a:srgbClr val="167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2743200"/>
            <a:ext cx="3246120" cy="365760"/>
          </a:xfrm>
          <a:prstGeom prst="rect">
            <a:avLst/>
          </a:prstGeom>
          <a:noFill/>
        </p:spPr>
        <p:txBody>
          <a:bodyPr wrap="square" lIns="0" rIns="0" tIns="0" bIns="0">
            <a:spAutoFit/>
          </a:bodyPr>
          <a:lstStyle/>
          <a:p>
            <a:pPr>
              <a:spcAft>
                <a:spcPts val="1000"/>
              </a:spcAft>
              <a:defRPr sz="1300" b="1">
                <a:solidFill>
                  <a:srgbClr val="16745A"/>
                </a:solidFill>
                <a:latin typeface="Avenir Next"/>
              </a:defRPr>
            </a:pPr>
            <a:r>
              <a:t>GITHUB / DEV</a:t>
            </a:r>
          </a:p>
        </p:txBody>
      </p:sp>
      <p:sp>
        <p:nvSpPr>
          <p:cNvPr id="15" name="TextBox 14"/>
          <p:cNvSpPr txBox="1"/>
          <p:nvPr/>
        </p:nvSpPr>
        <p:spPr>
          <a:xfrm>
            <a:off x="4343400" y="3255263"/>
            <a:ext cx="324612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Store securely</a:t>
            </a:r>
          </a:p>
        </p:txBody>
      </p:sp>
      <p:sp>
        <p:nvSpPr>
          <p:cNvPr id="16" name="TextBox 15"/>
          <p:cNvSpPr txBox="1"/>
          <p:nvPr/>
        </p:nvSpPr>
        <p:spPr>
          <a:xfrm>
            <a:off x="4343400" y="3931920"/>
            <a:ext cx="324612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Save the entire XML</a:t>
            </a:r>
          </a:p>
          <a:p>
            <a:pPr>
              <a:spcAft>
                <a:spcPts val="1000"/>
              </a:spcAft>
              <a:defRPr sz="1800" b="0">
                <a:solidFill>
                  <a:srgbClr val="526168"/>
                </a:solidFill>
                <a:latin typeface="Avenir Next"/>
              </a:defRPr>
            </a:pPr>
            <a:r>
              <a:t>as an environment secret.</a:t>
            </a:r>
          </a:p>
        </p:txBody>
      </p:sp>
      <p:sp>
        <p:nvSpPr>
          <p:cNvPr id="17" name="Rectangle 16"/>
          <p:cNvSpPr/>
          <p:nvPr/>
        </p:nvSpPr>
        <p:spPr>
          <a:xfrm>
            <a:off x="8092440" y="2560320"/>
            <a:ext cx="3246120" cy="45720"/>
          </a:xfrm>
          <a:prstGeom prst="rect">
            <a:avLst/>
          </a:prstGeom>
          <a:solidFill>
            <a:srgbClr val="17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2743200"/>
            <a:ext cx="3246120" cy="365760"/>
          </a:xfrm>
          <a:prstGeom prst="rect">
            <a:avLst/>
          </a:prstGeom>
          <a:noFill/>
        </p:spPr>
        <p:txBody>
          <a:bodyPr wrap="square" lIns="0" rIns="0" tIns="0" bIns="0">
            <a:spAutoFit/>
          </a:bodyPr>
          <a:lstStyle/>
          <a:p>
            <a:pPr>
              <a:spcAft>
                <a:spcPts val="1000"/>
              </a:spcAft>
              <a:defRPr sz="1300" b="1">
                <a:solidFill>
                  <a:srgbClr val="172124"/>
                </a:solidFill>
                <a:latin typeface="Avenir Next"/>
              </a:defRPr>
            </a:pPr>
            <a:r>
              <a:t>DEPLOYMENT STEP</a:t>
            </a:r>
          </a:p>
        </p:txBody>
      </p:sp>
      <p:sp>
        <p:nvSpPr>
          <p:cNvPr id="19" name="TextBox 18"/>
          <p:cNvSpPr txBox="1"/>
          <p:nvPr/>
        </p:nvSpPr>
        <p:spPr>
          <a:xfrm>
            <a:off x="8092440" y="3255263"/>
            <a:ext cx="324612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Authenticate</a:t>
            </a:r>
          </a:p>
        </p:txBody>
      </p:sp>
      <p:sp>
        <p:nvSpPr>
          <p:cNvPr id="20" name="TextBox 19"/>
          <p:cNvSpPr txBox="1"/>
          <p:nvPr/>
        </p:nvSpPr>
        <p:spPr>
          <a:xfrm>
            <a:off x="8092440" y="3931920"/>
            <a:ext cx="324612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The action uses the secret</a:t>
            </a:r>
          </a:p>
          <a:p>
            <a:pPr>
              <a:spcAft>
                <a:spcPts val="1000"/>
              </a:spcAft>
              <a:defRPr sz="1800" b="0">
                <a:solidFill>
                  <a:srgbClr val="526168"/>
                </a:solidFill>
                <a:latin typeface="Avenir Next"/>
              </a:defRPr>
            </a:pPr>
            <a:r>
              <a:t>to upload the app.</a:t>
            </a:r>
          </a:p>
        </p:txBody>
      </p:sp>
      <p:sp>
        <p:nvSpPr>
          <p:cNvPr id="21" name="Rectangle 20"/>
          <p:cNvSpPr/>
          <p:nvPr/>
        </p:nvSpPr>
        <p:spPr>
          <a:xfrm>
            <a:off x="594360" y="4791456"/>
            <a:ext cx="10972800" cy="694944"/>
          </a:xfrm>
          <a:prstGeom prst="rect">
            <a:avLst/>
          </a:prstGeom>
          <a:solidFill>
            <a:srgbClr val="202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020056"/>
            <a:ext cx="10515600" cy="237744"/>
          </a:xfrm>
          <a:prstGeom prst="rect">
            <a:avLst/>
          </a:prstGeom>
          <a:noFill/>
        </p:spPr>
        <p:txBody>
          <a:bodyPr wrap="square" lIns="0" rIns="0" tIns="0" bIns="0">
            <a:spAutoFit/>
          </a:bodyPr>
          <a:lstStyle/>
          <a:p>
            <a:pPr>
              <a:spcAft>
                <a:spcPts val="1000"/>
              </a:spcAft>
              <a:defRPr sz="2000" b="0">
                <a:solidFill>
                  <a:srgbClr val="FFFFFF"/>
                </a:solidFill>
                <a:latin typeface="Menlo"/>
              </a:defRPr>
            </a:pPr>
            <a:r>
              <a:t>AZURE_WEBAPP_PUBLISH_PROFILE</a:t>
            </a:r>
          </a:p>
        </p:txBody>
      </p:sp>
      <p:sp>
        <p:nvSpPr>
          <p:cNvPr id="23" name="TextBox 22"/>
          <p:cNvSpPr txBox="1"/>
          <p:nvPr/>
        </p:nvSpPr>
        <p:spPr>
          <a:xfrm>
            <a:off x="594360" y="5660136"/>
            <a:ext cx="10972800" cy="365760"/>
          </a:xfrm>
          <a:prstGeom prst="rect">
            <a:avLst/>
          </a:prstGeom>
          <a:noFill/>
        </p:spPr>
        <p:txBody>
          <a:bodyPr wrap="square" lIns="0" rIns="0" tIns="0" bIns="0">
            <a:spAutoFit/>
          </a:bodyPr>
          <a:lstStyle/>
          <a:p>
            <a:pPr>
              <a:spcAft>
                <a:spcPts val="1000"/>
              </a:spcAft>
              <a:defRPr sz="1700" b="1">
                <a:solidFill>
                  <a:srgbClr val="AA6B0A"/>
                </a:solidFill>
                <a:latin typeface="Avenir Next"/>
              </a:defRPr>
            </a:pPr>
            <a:r>
              <a:t>Treat it like a password. Never commit it, display it, or share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67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274320"/>
          </a:xfrm>
          <a:prstGeom prst="rect">
            <a:avLst/>
          </a:prstGeom>
          <a:noFill/>
        </p:spPr>
        <p:txBody>
          <a:bodyPr wrap="square" lIns="0" rIns="0" tIns="0" bIns="0">
            <a:spAutoFit/>
          </a:bodyPr>
          <a:lstStyle/>
          <a:p>
            <a:pPr>
              <a:spcAft>
                <a:spcPts val="1000"/>
              </a:spcAft>
              <a:defRPr sz="1200" b="1">
                <a:solidFill>
                  <a:srgbClr val="16745A"/>
                </a:solidFill>
                <a:latin typeface="Avenir Next"/>
              </a:defRPr>
            </a:pPr>
            <a:r>
              <a:t>05 / DEPLOY</a:t>
            </a:r>
          </a:p>
        </p:txBody>
      </p:sp>
      <p:sp>
        <p:nvSpPr>
          <p:cNvPr id="4" name="TextBox 3"/>
          <p:cNvSpPr txBox="1"/>
          <p:nvPr/>
        </p:nvSpPr>
        <p:spPr>
          <a:xfrm>
            <a:off x="594360" y="896112"/>
            <a:ext cx="10972800" cy="685800"/>
          </a:xfrm>
          <a:prstGeom prst="rect">
            <a:avLst/>
          </a:prstGeom>
          <a:noFill/>
        </p:spPr>
        <p:txBody>
          <a:bodyPr wrap="square" lIns="0" rIns="0" tIns="0" bIns="0">
            <a:spAutoFit/>
          </a:bodyPr>
          <a:lstStyle/>
          <a:p>
            <a:pPr>
              <a:spcAft>
                <a:spcPts val="1000"/>
              </a:spcAft>
              <a:defRPr sz="3400" b="1">
                <a:solidFill>
                  <a:srgbClr val="172124"/>
                </a:solidFill>
                <a:latin typeface="Avenir Next"/>
              </a:defRPr>
            </a:pPr>
            <a:r>
              <a:t>Upload the app. Azure runs it.</a:t>
            </a:r>
          </a:p>
        </p:txBody>
      </p:sp>
      <p:sp>
        <p:nvSpPr>
          <p:cNvPr id="5" name="TextBox 4"/>
          <p:cNvSpPr txBox="1"/>
          <p:nvPr/>
        </p:nvSpPr>
        <p:spPr>
          <a:xfrm>
            <a:off x="594360" y="1709928"/>
            <a:ext cx="10881360" cy="59436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Our target is tododevday-app on Linux Azure App Service.</a:t>
            </a:r>
          </a:p>
        </p:txBody>
      </p:sp>
      <p:sp>
        <p:nvSpPr>
          <p:cNvPr id="6" name="Rectangle 5"/>
          <p:cNvSpPr/>
          <p:nvPr/>
        </p:nvSpPr>
        <p:spPr>
          <a:xfrm>
            <a:off x="594360" y="6345936"/>
            <a:ext cx="10972800" cy="13716"/>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92240"/>
            <a:ext cx="7315200" cy="228600"/>
          </a:xfrm>
          <a:prstGeom prst="rect">
            <a:avLst/>
          </a:prstGeom>
          <a:noFill/>
        </p:spPr>
        <p:txBody>
          <a:bodyPr wrap="square" lIns="0" rIns="0" tIns="0" bIns="0">
            <a:spAutoFit/>
          </a:bodyPr>
          <a:lstStyle/>
          <a:p>
            <a:pPr>
              <a:spcAft>
                <a:spcPts val="1000"/>
              </a:spcAft>
              <a:defRPr sz="1000" b="0">
                <a:solidFill>
                  <a:srgbClr val="526168"/>
                </a:solidFill>
                <a:latin typeface="Avenir Next"/>
              </a:defRPr>
            </a:pPr>
            <a:r>
              <a:t>TASK LIST  /  TEAM WALKTHROUGH</a:t>
            </a:r>
          </a:p>
        </p:txBody>
      </p:sp>
      <p:sp>
        <p:nvSpPr>
          <p:cNvPr id="8" name="TextBox 7"/>
          <p:cNvSpPr txBox="1"/>
          <p:nvPr/>
        </p:nvSpPr>
        <p:spPr>
          <a:xfrm>
            <a:off x="10652760" y="6473952"/>
            <a:ext cx="914400" cy="256032"/>
          </a:xfrm>
          <a:prstGeom prst="rect">
            <a:avLst/>
          </a:prstGeom>
          <a:noFill/>
        </p:spPr>
        <p:txBody>
          <a:bodyPr wrap="square" lIns="0" rIns="0" tIns="0" bIns="0">
            <a:spAutoFit/>
          </a:bodyPr>
          <a:lstStyle/>
          <a:p>
            <a:pPr>
              <a:spcAft>
                <a:spcPts val="1000"/>
              </a:spcAft>
              <a:defRPr sz="1100" b="0">
                <a:solidFill>
                  <a:srgbClr val="526168"/>
                </a:solidFill>
                <a:latin typeface="Avenir Next"/>
              </a:defRPr>
            </a:pPr>
            <a:r>
              <a:t>06 / 08</a:t>
            </a:r>
          </a:p>
        </p:txBody>
      </p:sp>
      <p:sp>
        <p:nvSpPr>
          <p:cNvPr id="9" name="Rectangle 8"/>
          <p:cNvSpPr/>
          <p:nvPr/>
        </p:nvSpPr>
        <p:spPr>
          <a:xfrm>
            <a:off x="594360" y="2606040"/>
            <a:ext cx="3291840" cy="45720"/>
          </a:xfrm>
          <a:prstGeom prst="rect">
            <a:avLst/>
          </a:prstGeom>
          <a:solidFill>
            <a:srgbClr val="156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788920"/>
            <a:ext cx="3291840" cy="365760"/>
          </a:xfrm>
          <a:prstGeom prst="rect">
            <a:avLst/>
          </a:prstGeom>
          <a:noFill/>
        </p:spPr>
        <p:txBody>
          <a:bodyPr wrap="square" lIns="0" rIns="0" tIns="0" bIns="0">
            <a:spAutoFit/>
          </a:bodyPr>
          <a:lstStyle/>
          <a:p>
            <a:pPr>
              <a:spcAft>
                <a:spcPts val="1000"/>
              </a:spcAft>
              <a:defRPr sz="1300" b="1">
                <a:solidFill>
                  <a:srgbClr val="1569D4"/>
                </a:solidFill>
                <a:latin typeface="Avenir Next"/>
              </a:defRPr>
            </a:pPr>
            <a:r>
              <a:t>GITHUB ACTION</a:t>
            </a:r>
          </a:p>
        </p:txBody>
      </p:sp>
      <p:sp>
        <p:nvSpPr>
          <p:cNvPr id="11" name="TextBox 10"/>
          <p:cNvSpPr txBox="1"/>
          <p:nvPr/>
        </p:nvSpPr>
        <p:spPr>
          <a:xfrm>
            <a:off x="594360" y="3300984"/>
            <a:ext cx="329184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Upload package</a:t>
            </a:r>
          </a:p>
        </p:txBody>
      </p:sp>
      <p:sp>
        <p:nvSpPr>
          <p:cNvPr id="12" name="TextBox 11"/>
          <p:cNvSpPr txBox="1"/>
          <p:nvPr/>
        </p:nvSpPr>
        <p:spPr>
          <a:xfrm>
            <a:off x="594360" y="3977639"/>
            <a:ext cx="329184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azure/webapps-deploy@v3</a:t>
            </a:r>
          </a:p>
          <a:p>
            <a:pPr>
              <a:spcAft>
                <a:spcPts val="1000"/>
              </a:spcAft>
              <a:defRPr sz="1800" b="0">
                <a:solidFill>
                  <a:srgbClr val="526168"/>
                </a:solidFill>
                <a:latin typeface="Avenir Next"/>
              </a:defRPr>
            </a:pPr>
            <a:r>
              <a:t>sends the published files.</a:t>
            </a:r>
          </a:p>
        </p:txBody>
      </p:sp>
      <p:sp>
        <p:nvSpPr>
          <p:cNvPr id="13" name="Rectangle 12"/>
          <p:cNvSpPr/>
          <p:nvPr/>
        </p:nvSpPr>
        <p:spPr>
          <a:xfrm>
            <a:off x="4480560" y="2606040"/>
            <a:ext cx="3017520" cy="45720"/>
          </a:xfrm>
          <a:prstGeom prst="rect">
            <a:avLst/>
          </a:prstGeom>
          <a:solidFill>
            <a:srgbClr val="167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2788920"/>
            <a:ext cx="3017520" cy="365760"/>
          </a:xfrm>
          <a:prstGeom prst="rect">
            <a:avLst/>
          </a:prstGeom>
          <a:noFill/>
        </p:spPr>
        <p:txBody>
          <a:bodyPr wrap="square" lIns="0" rIns="0" tIns="0" bIns="0">
            <a:spAutoFit/>
          </a:bodyPr>
          <a:lstStyle/>
          <a:p>
            <a:pPr>
              <a:spcAft>
                <a:spcPts val="1000"/>
              </a:spcAft>
              <a:defRPr sz="1300" b="1">
                <a:solidFill>
                  <a:srgbClr val="16745A"/>
                </a:solidFill>
                <a:latin typeface="Avenir Next"/>
              </a:defRPr>
            </a:pPr>
            <a:r>
              <a:t>AZURE RUNTIME</a:t>
            </a:r>
          </a:p>
        </p:txBody>
      </p:sp>
      <p:sp>
        <p:nvSpPr>
          <p:cNvPr id="15" name="TextBox 14"/>
          <p:cNvSpPr txBox="1"/>
          <p:nvPr/>
        </p:nvSpPr>
        <p:spPr>
          <a:xfrm>
            <a:off x="4480560" y="3300984"/>
            <a:ext cx="301752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Start the app</a:t>
            </a:r>
          </a:p>
        </p:txBody>
      </p:sp>
      <p:sp>
        <p:nvSpPr>
          <p:cNvPr id="16" name="TextBox 15"/>
          <p:cNvSpPr txBox="1"/>
          <p:nvPr/>
        </p:nvSpPr>
        <p:spPr>
          <a:xfrm>
            <a:off x="4480560" y="3977639"/>
            <a:ext cx="301752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dotnet TaskApp.dll</a:t>
            </a:r>
          </a:p>
          <a:p>
            <a:pPr>
              <a:spcAft>
                <a:spcPts val="1000"/>
              </a:spcAft>
              <a:defRPr sz="1800" b="0">
                <a:solidFill>
                  <a:srgbClr val="526168"/>
                </a:solidFill>
                <a:latin typeface="Avenir Next"/>
              </a:defRPr>
            </a:pPr>
            <a:r>
              <a:t>launches the website.</a:t>
            </a:r>
          </a:p>
        </p:txBody>
      </p:sp>
      <p:sp>
        <p:nvSpPr>
          <p:cNvPr id="17" name="Rectangle 16"/>
          <p:cNvSpPr/>
          <p:nvPr/>
        </p:nvSpPr>
        <p:spPr>
          <a:xfrm>
            <a:off x="8229600" y="2606040"/>
            <a:ext cx="3200400" cy="45720"/>
          </a:xfrm>
          <a:prstGeom prst="rect">
            <a:avLst/>
          </a:prstGeom>
          <a:solidFill>
            <a:srgbClr val="17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788920"/>
            <a:ext cx="3200400" cy="365760"/>
          </a:xfrm>
          <a:prstGeom prst="rect">
            <a:avLst/>
          </a:prstGeom>
          <a:noFill/>
        </p:spPr>
        <p:txBody>
          <a:bodyPr wrap="square" lIns="0" rIns="0" tIns="0" bIns="0">
            <a:spAutoFit/>
          </a:bodyPr>
          <a:lstStyle/>
          <a:p>
            <a:pPr>
              <a:spcAft>
                <a:spcPts val="1000"/>
              </a:spcAft>
              <a:defRPr sz="1300" b="1">
                <a:solidFill>
                  <a:srgbClr val="172124"/>
                </a:solidFill>
                <a:latin typeface="Avenir Next"/>
              </a:defRPr>
            </a:pPr>
            <a:r>
              <a:t>USER EXPERIENCE</a:t>
            </a:r>
          </a:p>
        </p:txBody>
      </p:sp>
      <p:sp>
        <p:nvSpPr>
          <p:cNvPr id="19" name="TextBox 18"/>
          <p:cNvSpPr txBox="1"/>
          <p:nvPr/>
        </p:nvSpPr>
        <p:spPr>
          <a:xfrm>
            <a:off x="8229600" y="3300984"/>
            <a:ext cx="320040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Open Task List</a:t>
            </a:r>
          </a:p>
        </p:txBody>
      </p:sp>
      <p:sp>
        <p:nvSpPr>
          <p:cNvPr id="20" name="TextBox 19"/>
          <p:cNvSpPr txBox="1"/>
          <p:nvPr/>
        </p:nvSpPr>
        <p:spPr>
          <a:xfrm>
            <a:off x="8229600" y="3977639"/>
            <a:ext cx="320040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The updated application</a:t>
            </a:r>
          </a:p>
          <a:p>
            <a:pPr>
              <a:spcAft>
                <a:spcPts val="1000"/>
              </a:spcAft>
              <a:defRPr sz="1800" b="0">
                <a:solidFill>
                  <a:srgbClr val="526168"/>
                </a:solidFill>
                <a:latin typeface="Avenir Next"/>
              </a:defRPr>
            </a:pPr>
            <a:r>
              <a:t>is available in the browser.</a:t>
            </a:r>
          </a:p>
        </p:txBody>
      </p:sp>
      <p:sp>
        <p:nvSpPr>
          <p:cNvPr id="21" name="Rectangle 20"/>
          <p:cNvSpPr/>
          <p:nvPr/>
        </p:nvSpPr>
        <p:spPr>
          <a:xfrm>
            <a:off x="594360" y="5321808"/>
            <a:ext cx="10972800" cy="749808"/>
          </a:xfrm>
          <a:prstGeom prst="rect">
            <a:avLst/>
          </a:prstGeom>
          <a:solidFill>
            <a:srgbClr val="E5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458968"/>
            <a:ext cx="2286000" cy="411480"/>
          </a:xfrm>
          <a:prstGeom prst="rect">
            <a:avLst/>
          </a:prstGeom>
          <a:noFill/>
        </p:spPr>
        <p:txBody>
          <a:bodyPr wrap="square" lIns="0" rIns="0" tIns="0" bIns="0">
            <a:spAutoFit/>
          </a:bodyPr>
          <a:lstStyle/>
          <a:p>
            <a:pPr>
              <a:spcAft>
                <a:spcPts val="1000"/>
              </a:spcAft>
              <a:defRPr sz="1600" b="1">
                <a:solidFill>
                  <a:srgbClr val="16745A"/>
                </a:solidFill>
                <a:latin typeface="Avenir Next"/>
              </a:defRPr>
            </a:pPr>
            <a:r>
              <a:t>TASK DATA</a:t>
            </a:r>
          </a:p>
        </p:txBody>
      </p:sp>
      <p:sp>
        <p:nvSpPr>
          <p:cNvPr id="23" name="TextBox 22"/>
          <p:cNvSpPr txBox="1"/>
          <p:nvPr/>
        </p:nvSpPr>
        <p:spPr>
          <a:xfrm>
            <a:off x="3063240" y="5458968"/>
            <a:ext cx="8229600" cy="457200"/>
          </a:xfrm>
          <a:prstGeom prst="rect">
            <a:avLst/>
          </a:prstGeom>
          <a:noFill/>
        </p:spPr>
        <p:txBody>
          <a:bodyPr wrap="square" lIns="0" rIns="0" tIns="0" bIns="0">
            <a:spAutoFit/>
          </a:bodyPr>
          <a:lstStyle/>
          <a:p>
            <a:pPr>
              <a:spcAft>
                <a:spcPts val="1000"/>
              </a:spcAft>
              <a:defRPr sz="1700" b="0">
                <a:solidFill>
                  <a:srgbClr val="172124"/>
                </a:solidFill>
                <a:latin typeface="Avenir Next"/>
              </a:defRPr>
            </a:pPr>
            <a:r>
              <a:t>SQLite stays separately in /home/data on persistent storage.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67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274320"/>
          </a:xfrm>
          <a:prstGeom prst="rect">
            <a:avLst/>
          </a:prstGeom>
          <a:noFill/>
        </p:spPr>
        <p:txBody>
          <a:bodyPr wrap="square" lIns="0" rIns="0" tIns="0" bIns="0">
            <a:spAutoFit/>
          </a:bodyPr>
          <a:lstStyle/>
          <a:p>
            <a:pPr>
              <a:spcAft>
                <a:spcPts val="1000"/>
              </a:spcAft>
              <a:defRPr sz="1200" b="1">
                <a:solidFill>
                  <a:srgbClr val="16745A"/>
                </a:solidFill>
                <a:latin typeface="Avenir Next"/>
              </a:defRPr>
            </a:pPr>
            <a:r>
              <a:t>06 / CONFIDENCE</a:t>
            </a:r>
          </a:p>
        </p:txBody>
      </p:sp>
      <p:sp>
        <p:nvSpPr>
          <p:cNvPr id="4" name="TextBox 3"/>
          <p:cNvSpPr txBox="1"/>
          <p:nvPr/>
        </p:nvSpPr>
        <p:spPr>
          <a:xfrm>
            <a:off x="594360" y="896112"/>
            <a:ext cx="10972800" cy="685800"/>
          </a:xfrm>
          <a:prstGeom prst="rect">
            <a:avLst/>
          </a:prstGeom>
          <a:noFill/>
        </p:spPr>
        <p:txBody>
          <a:bodyPr wrap="square" lIns="0" rIns="0" tIns="0" bIns="0">
            <a:spAutoFit/>
          </a:bodyPr>
          <a:lstStyle/>
          <a:p>
            <a:pPr>
              <a:spcAft>
                <a:spcPts val="1000"/>
              </a:spcAft>
              <a:defRPr sz="3400" b="1">
                <a:solidFill>
                  <a:srgbClr val="172124"/>
                </a:solidFill>
                <a:latin typeface="Avenir Next"/>
              </a:defRPr>
            </a:pPr>
            <a:r>
              <a:t>Know when deployment worked.</a:t>
            </a:r>
          </a:p>
        </p:txBody>
      </p:sp>
      <p:sp>
        <p:nvSpPr>
          <p:cNvPr id="5" name="TextBox 4"/>
          <p:cNvSpPr txBox="1"/>
          <p:nvPr/>
        </p:nvSpPr>
        <p:spPr>
          <a:xfrm>
            <a:off x="594360" y="1709928"/>
            <a:ext cx="10881360" cy="59436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Watch the workflow, then check the running application.</a:t>
            </a:r>
          </a:p>
        </p:txBody>
      </p:sp>
      <p:sp>
        <p:nvSpPr>
          <p:cNvPr id="6" name="Rectangle 5"/>
          <p:cNvSpPr/>
          <p:nvPr/>
        </p:nvSpPr>
        <p:spPr>
          <a:xfrm>
            <a:off x="594360" y="6345936"/>
            <a:ext cx="10972800" cy="13716"/>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92240"/>
            <a:ext cx="7315200" cy="228600"/>
          </a:xfrm>
          <a:prstGeom prst="rect">
            <a:avLst/>
          </a:prstGeom>
          <a:noFill/>
        </p:spPr>
        <p:txBody>
          <a:bodyPr wrap="square" lIns="0" rIns="0" tIns="0" bIns="0">
            <a:spAutoFit/>
          </a:bodyPr>
          <a:lstStyle/>
          <a:p>
            <a:pPr>
              <a:spcAft>
                <a:spcPts val="1000"/>
              </a:spcAft>
              <a:defRPr sz="1000" b="0">
                <a:solidFill>
                  <a:srgbClr val="526168"/>
                </a:solidFill>
                <a:latin typeface="Avenir Next"/>
              </a:defRPr>
            </a:pPr>
            <a:r>
              <a:t>TASK LIST  /  TEAM WALKTHROUGH</a:t>
            </a:r>
          </a:p>
        </p:txBody>
      </p:sp>
      <p:sp>
        <p:nvSpPr>
          <p:cNvPr id="8" name="TextBox 7"/>
          <p:cNvSpPr txBox="1"/>
          <p:nvPr/>
        </p:nvSpPr>
        <p:spPr>
          <a:xfrm>
            <a:off x="10652760" y="6473952"/>
            <a:ext cx="914400" cy="256032"/>
          </a:xfrm>
          <a:prstGeom prst="rect">
            <a:avLst/>
          </a:prstGeom>
          <a:noFill/>
        </p:spPr>
        <p:txBody>
          <a:bodyPr wrap="square" lIns="0" rIns="0" tIns="0" bIns="0">
            <a:spAutoFit/>
          </a:bodyPr>
          <a:lstStyle/>
          <a:p>
            <a:pPr>
              <a:spcAft>
                <a:spcPts val="1000"/>
              </a:spcAft>
              <a:defRPr sz="1100" b="0">
                <a:solidFill>
                  <a:srgbClr val="526168"/>
                </a:solidFill>
                <a:latin typeface="Avenir Next"/>
              </a:defRPr>
            </a:pPr>
            <a:r>
              <a:t>07 / 08</a:t>
            </a:r>
          </a:p>
        </p:txBody>
      </p:sp>
      <p:sp>
        <p:nvSpPr>
          <p:cNvPr id="9" name="Rectangle 8"/>
          <p:cNvSpPr/>
          <p:nvPr/>
        </p:nvSpPr>
        <p:spPr>
          <a:xfrm>
            <a:off x="594360" y="2606040"/>
            <a:ext cx="3200400" cy="45720"/>
          </a:xfrm>
          <a:prstGeom prst="rect">
            <a:avLst/>
          </a:prstGeom>
          <a:solidFill>
            <a:srgbClr val="156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788920"/>
            <a:ext cx="3200400" cy="365760"/>
          </a:xfrm>
          <a:prstGeom prst="rect">
            <a:avLst/>
          </a:prstGeom>
          <a:noFill/>
        </p:spPr>
        <p:txBody>
          <a:bodyPr wrap="square" lIns="0" rIns="0" tIns="0" bIns="0">
            <a:spAutoFit/>
          </a:bodyPr>
          <a:lstStyle/>
          <a:p>
            <a:pPr>
              <a:spcAft>
                <a:spcPts val="1000"/>
              </a:spcAft>
              <a:defRPr sz="1300" b="1">
                <a:solidFill>
                  <a:srgbClr val="1569D4"/>
                </a:solidFill>
                <a:latin typeface="Avenir Next"/>
              </a:defRPr>
            </a:pPr>
            <a:r>
              <a:t>1 / ACTIONS</a:t>
            </a:r>
          </a:p>
        </p:txBody>
      </p:sp>
      <p:sp>
        <p:nvSpPr>
          <p:cNvPr id="11" name="TextBox 10"/>
          <p:cNvSpPr txBox="1"/>
          <p:nvPr/>
        </p:nvSpPr>
        <p:spPr>
          <a:xfrm>
            <a:off x="594360" y="3300984"/>
            <a:ext cx="320040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Check the run</a:t>
            </a:r>
          </a:p>
        </p:txBody>
      </p:sp>
      <p:sp>
        <p:nvSpPr>
          <p:cNvPr id="12" name="TextBox 11"/>
          <p:cNvSpPr txBox="1"/>
          <p:nvPr/>
        </p:nvSpPr>
        <p:spPr>
          <a:xfrm>
            <a:off x="594360" y="3977639"/>
            <a:ext cx="320040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Open Build and deploy.</a:t>
            </a:r>
          </a:p>
          <a:p>
            <a:pPr>
              <a:spcAft>
                <a:spcPts val="1000"/>
              </a:spcAft>
              <a:defRPr sz="1800" b="0">
                <a:solidFill>
                  <a:srgbClr val="526168"/>
                </a:solidFill>
                <a:latin typeface="Avenir Next"/>
              </a:defRPr>
            </a:pPr>
            <a:r>
              <a:t>Inspect each step's result.</a:t>
            </a:r>
          </a:p>
        </p:txBody>
      </p:sp>
      <p:sp>
        <p:nvSpPr>
          <p:cNvPr id="13" name="Rectangle 12"/>
          <p:cNvSpPr/>
          <p:nvPr/>
        </p:nvSpPr>
        <p:spPr>
          <a:xfrm>
            <a:off x="4389120" y="2606040"/>
            <a:ext cx="3200400" cy="45720"/>
          </a:xfrm>
          <a:prstGeom prst="rect">
            <a:avLst/>
          </a:prstGeom>
          <a:solidFill>
            <a:srgbClr val="167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2788920"/>
            <a:ext cx="3200400" cy="365760"/>
          </a:xfrm>
          <a:prstGeom prst="rect">
            <a:avLst/>
          </a:prstGeom>
          <a:noFill/>
        </p:spPr>
        <p:txBody>
          <a:bodyPr wrap="square" lIns="0" rIns="0" tIns="0" bIns="0">
            <a:spAutoFit/>
          </a:bodyPr>
          <a:lstStyle/>
          <a:p>
            <a:pPr>
              <a:spcAft>
                <a:spcPts val="1000"/>
              </a:spcAft>
              <a:defRPr sz="1300" b="1">
                <a:solidFill>
                  <a:srgbClr val="16745A"/>
                </a:solidFill>
                <a:latin typeface="Avenir Next"/>
              </a:defRPr>
            </a:pPr>
            <a:r>
              <a:t>2 / HEALTH</a:t>
            </a:r>
          </a:p>
        </p:txBody>
      </p:sp>
      <p:sp>
        <p:nvSpPr>
          <p:cNvPr id="15" name="TextBox 14"/>
          <p:cNvSpPr txBox="1"/>
          <p:nvPr/>
        </p:nvSpPr>
        <p:spPr>
          <a:xfrm>
            <a:off x="4389120" y="3300984"/>
            <a:ext cx="320040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Check startup</a:t>
            </a:r>
          </a:p>
        </p:txBody>
      </p:sp>
      <p:sp>
        <p:nvSpPr>
          <p:cNvPr id="16" name="TextBox 15"/>
          <p:cNvSpPr txBox="1"/>
          <p:nvPr/>
        </p:nvSpPr>
        <p:spPr>
          <a:xfrm>
            <a:off x="4389120" y="3977639"/>
            <a:ext cx="320040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Open /health.</a:t>
            </a:r>
          </a:p>
          <a:p>
            <a:pPr>
              <a:spcAft>
                <a:spcPts val="1000"/>
              </a:spcAft>
              <a:defRPr sz="1800" b="0">
                <a:solidFill>
                  <a:srgbClr val="526168"/>
                </a:solidFill>
                <a:latin typeface="Avenir Next"/>
              </a:defRPr>
            </a:pPr>
            <a:r>
              <a:t>Expected response: Healthy.</a:t>
            </a:r>
          </a:p>
        </p:txBody>
      </p:sp>
      <p:sp>
        <p:nvSpPr>
          <p:cNvPr id="17" name="Rectangle 16"/>
          <p:cNvSpPr/>
          <p:nvPr/>
        </p:nvSpPr>
        <p:spPr>
          <a:xfrm>
            <a:off x="8183879" y="2606040"/>
            <a:ext cx="3200400" cy="45720"/>
          </a:xfrm>
          <a:prstGeom prst="rect">
            <a:avLst/>
          </a:prstGeom>
          <a:solidFill>
            <a:srgbClr val="17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2788920"/>
            <a:ext cx="3200400" cy="365760"/>
          </a:xfrm>
          <a:prstGeom prst="rect">
            <a:avLst/>
          </a:prstGeom>
          <a:noFill/>
        </p:spPr>
        <p:txBody>
          <a:bodyPr wrap="square" lIns="0" rIns="0" tIns="0" bIns="0">
            <a:spAutoFit/>
          </a:bodyPr>
          <a:lstStyle/>
          <a:p>
            <a:pPr>
              <a:spcAft>
                <a:spcPts val="1000"/>
              </a:spcAft>
              <a:defRPr sz="1300" b="1">
                <a:solidFill>
                  <a:srgbClr val="172124"/>
                </a:solidFill>
                <a:latin typeface="Avenir Next"/>
              </a:defRPr>
            </a:pPr>
            <a:r>
              <a:t>3 / WEBSITE</a:t>
            </a:r>
          </a:p>
        </p:txBody>
      </p:sp>
      <p:sp>
        <p:nvSpPr>
          <p:cNvPr id="19" name="TextBox 18"/>
          <p:cNvSpPr txBox="1"/>
          <p:nvPr/>
        </p:nvSpPr>
        <p:spPr>
          <a:xfrm>
            <a:off x="8183879" y="3300984"/>
            <a:ext cx="3200400" cy="548640"/>
          </a:xfrm>
          <a:prstGeom prst="rect">
            <a:avLst/>
          </a:prstGeom>
          <a:noFill/>
        </p:spPr>
        <p:txBody>
          <a:bodyPr wrap="square" lIns="0" rIns="0" tIns="0" bIns="0">
            <a:spAutoFit/>
          </a:bodyPr>
          <a:lstStyle/>
          <a:p>
            <a:pPr>
              <a:spcAft>
                <a:spcPts val="1000"/>
              </a:spcAft>
              <a:defRPr sz="2400" b="1">
                <a:solidFill>
                  <a:srgbClr val="172124"/>
                </a:solidFill>
                <a:latin typeface="Avenir Next"/>
              </a:defRPr>
            </a:pPr>
            <a:r>
              <a:t>Check the change</a:t>
            </a:r>
          </a:p>
        </p:txBody>
      </p:sp>
      <p:sp>
        <p:nvSpPr>
          <p:cNvPr id="20" name="TextBox 19"/>
          <p:cNvSpPr txBox="1"/>
          <p:nvPr/>
        </p:nvSpPr>
        <p:spPr>
          <a:xfrm>
            <a:off x="8183879" y="3977639"/>
            <a:ext cx="3200400" cy="114300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Refresh the app.</a:t>
            </a:r>
          </a:p>
          <a:p>
            <a:pPr>
              <a:spcAft>
                <a:spcPts val="1000"/>
              </a:spcAft>
              <a:defRPr sz="1800" b="0">
                <a:solidFill>
                  <a:srgbClr val="526168"/>
                </a:solidFill>
                <a:latin typeface="Avenir Next"/>
              </a:defRPr>
            </a:pPr>
            <a:r>
              <a:t>Confirm the updated heading.</a:t>
            </a:r>
          </a:p>
        </p:txBody>
      </p:sp>
      <p:sp>
        <p:nvSpPr>
          <p:cNvPr id="21" name="Rectangle 20"/>
          <p:cNvSpPr/>
          <p:nvPr/>
        </p:nvSpPr>
        <p:spPr>
          <a:xfrm>
            <a:off x="594360" y="5321808"/>
            <a:ext cx="10972800" cy="749808"/>
          </a:xfrm>
          <a:prstGeom prst="rect">
            <a:avLst/>
          </a:prstGeom>
          <a:solidFill>
            <a:srgbClr val="E5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458968"/>
            <a:ext cx="2286000" cy="411480"/>
          </a:xfrm>
          <a:prstGeom prst="rect">
            <a:avLst/>
          </a:prstGeom>
          <a:noFill/>
        </p:spPr>
        <p:txBody>
          <a:bodyPr wrap="square" lIns="0" rIns="0" tIns="0" bIns="0">
            <a:spAutoFit/>
          </a:bodyPr>
          <a:lstStyle/>
          <a:p>
            <a:pPr>
              <a:spcAft>
                <a:spcPts val="1000"/>
              </a:spcAft>
              <a:defRPr sz="1600" b="1">
                <a:solidFill>
                  <a:srgbClr val="16745A"/>
                </a:solidFill>
                <a:latin typeface="Avenir Next"/>
              </a:defRPr>
            </a:pPr>
            <a:r>
              <a:t>GUARDRAILS</a:t>
            </a:r>
          </a:p>
        </p:txBody>
      </p:sp>
      <p:sp>
        <p:nvSpPr>
          <p:cNvPr id="23" name="TextBox 22"/>
          <p:cNvSpPr txBox="1"/>
          <p:nvPr/>
        </p:nvSpPr>
        <p:spPr>
          <a:xfrm>
            <a:off x="3063240" y="5458968"/>
            <a:ext cx="8229600" cy="457200"/>
          </a:xfrm>
          <a:prstGeom prst="rect">
            <a:avLst/>
          </a:prstGeom>
          <a:noFill/>
        </p:spPr>
        <p:txBody>
          <a:bodyPr wrap="square" lIns="0" rIns="0" tIns="0" bIns="0">
            <a:spAutoFit/>
          </a:bodyPr>
          <a:lstStyle/>
          <a:p>
            <a:pPr>
              <a:spcAft>
                <a:spcPts val="1000"/>
              </a:spcAft>
              <a:defRPr sz="1700" b="0">
                <a:solidFill>
                  <a:srgbClr val="172124"/>
                </a:solidFill>
                <a:latin typeface="Avenir Next"/>
              </a:defRPr>
            </a:pPr>
            <a:r>
              <a:t>Failures stop the job. Only one deployment runs at a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67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274320"/>
          </a:xfrm>
          <a:prstGeom prst="rect">
            <a:avLst/>
          </a:prstGeom>
          <a:noFill/>
        </p:spPr>
        <p:txBody>
          <a:bodyPr wrap="square" lIns="0" rIns="0" tIns="0" bIns="0">
            <a:spAutoFit/>
          </a:bodyPr>
          <a:lstStyle/>
          <a:p>
            <a:pPr>
              <a:spcAft>
                <a:spcPts val="1000"/>
              </a:spcAft>
              <a:defRPr sz="1200" b="1">
                <a:solidFill>
                  <a:srgbClr val="16745A"/>
                </a:solidFill>
                <a:latin typeface="Avenir Next"/>
              </a:defRPr>
            </a:pPr>
            <a:r>
              <a:t>TEAM DEMO</a:t>
            </a:r>
          </a:p>
        </p:txBody>
      </p:sp>
      <p:sp>
        <p:nvSpPr>
          <p:cNvPr id="4" name="TextBox 3"/>
          <p:cNvSpPr txBox="1"/>
          <p:nvPr/>
        </p:nvSpPr>
        <p:spPr>
          <a:xfrm>
            <a:off x="594360" y="896112"/>
            <a:ext cx="10972800" cy="685800"/>
          </a:xfrm>
          <a:prstGeom prst="rect">
            <a:avLst/>
          </a:prstGeom>
          <a:noFill/>
        </p:spPr>
        <p:txBody>
          <a:bodyPr wrap="square" lIns="0" rIns="0" tIns="0" bIns="0">
            <a:spAutoFit/>
          </a:bodyPr>
          <a:lstStyle/>
          <a:p>
            <a:pPr>
              <a:spcAft>
                <a:spcPts val="1000"/>
              </a:spcAft>
              <a:defRPr sz="3400" b="1">
                <a:solidFill>
                  <a:srgbClr val="172124"/>
                </a:solidFill>
                <a:latin typeface="Avenir Next"/>
              </a:defRPr>
            </a:pPr>
            <a:r>
              <a:t>Make one change. Follow it to Azure.</a:t>
            </a:r>
          </a:p>
        </p:txBody>
      </p:sp>
      <p:sp>
        <p:nvSpPr>
          <p:cNvPr id="5" name="TextBox 4"/>
          <p:cNvSpPr txBox="1"/>
          <p:nvPr/>
        </p:nvSpPr>
        <p:spPr>
          <a:xfrm>
            <a:off x="594360" y="1709928"/>
            <a:ext cx="10881360" cy="594360"/>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A small visible change makes the whole journey easy to follow.</a:t>
            </a:r>
          </a:p>
        </p:txBody>
      </p:sp>
      <p:sp>
        <p:nvSpPr>
          <p:cNvPr id="6" name="Rectangle 5"/>
          <p:cNvSpPr/>
          <p:nvPr/>
        </p:nvSpPr>
        <p:spPr>
          <a:xfrm>
            <a:off x="594360" y="6345936"/>
            <a:ext cx="10972800" cy="13716"/>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92240"/>
            <a:ext cx="7315200" cy="228600"/>
          </a:xfrm>
          <a:prstGeom prst="rect">
            <a:avLst/>
          </a:prstGeom>
          <a:noFill/>
        </p:spPr>
        <p:txBody>
          <a:bodyPr wrap="square" lIns="0" rIns="0" tIns="0" bIns="0">
            <a:spAutoFit/>
          </a:bodyPr>
          <a:lstStyle/>
          <a:p>
            <a:pPr>
              <a:spcAft>
                <a:spcPts val="1000"/>
              </a:spcAft>
              <a:defRPr sz="1000" b="0">
                <a:solidFill>
                  <a:srgbClr val="526168"/>
                </a:solidFill>
                <a:latin typeface="Avenir Next"/>
              </a:defRPr>
            </a:pPr>
            <a:r>
              <a:t>TASK LIST  /  TEAM WALKTHROUGH</a:t>
            </a:r>
          </a:p>
        </p:txBody>
      </p:sp>
      <p:sp>
        <p:nvSpPr>
          <p:cNvPr id="8" name="TextBox 7"/>
          <p:cNvSpPr txBox="1"/>
          <p:nvPr/>
        </p:nvSpPr>
        <p:spPr>
          <a:xfrm>
            <a:off x="10652760" y="6473952"/>
            <a:ext cx="914400" cy="256032"/>
          </a:xfrm>
          <a:prstGeom prst="rect">
            <a:avLst/>
          </a:prstGeom>
          <a:noFill/>
        </p:spPr>
        <p:txBody>
          <a:bodyPr wrap="square" lIns="0" rIns="0" tIns="0" bIns="0">
            <a:spAutoFit/>
          </a:bodyPr>
          <a:lstStyle/>
          <a:p>
            <a:pPr>
              <a:spcAft>
                <a:spcPts val="1000"/>
              </a:spcAft>
              <a:defRPr sz="1100" b="0">
                <a:solidFill>
                  <a:srgbClr val="526168"/>
                </a:solidFill>
                <a:latin typeface="Avenir Next"/>
              </a:defRPr>
            </a:pPr>
            <a:r>
              <a:t>08 / 08</a:t>
            </a:r>
          </a:p>
        </p:txBody>
      </p:sp>
      <p:sp>
        <p:nvSpPr>
          <p:cNvPr id="9" name="Rectangle 8"/>
          <p:cNvSpPr/>
          <p:nvPr/>
        </p:nvSpPr>
        <p:spPr>
          <a:xfrm>
            <a:off x="594360" y="2514600"/>
            <a:ext cx="393192" cy="393192"/>
          </a:xfrm>
          <a:prstGeom prst="rect">
            <a:avLst/>
          </a:prstGeom>
          <a:solidFill>
            <a:srgbClr val="156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2537460"/>
            <a:ext cx="228600" cy="320040"/>
          </a:xfrm>
          <a:prstGeom prst="rect">
            <a:avLst/>
          </a:prstGeom>
          <a:noFill/>
        </p:spPr>
        <p:txBody>
          <a:bodyPr wrap="square" lIns="0" rIns="0" tIns="0" bIns="0">
            <a:spAutoFit/>
          </a:bodyPr>
          <a:lstStyle/>
          <a:p>
            <a:pPr>
              <a:spcAft>
                <a:spcPts val="1000"/>
              </a:spcAft>
              <a:defRPr sz="1600" b="1">
                <a:solidFill>
                  <a:srgbClr val="FFFFFF"/>
                </a:solidFill>
                <a:latin typeface="Avenir Next"/>
              </a:defRPr>
            </a:pPr>
            <a:r>
              <a:t>1</a:t>
            </a:r>
          </a:p>
        </p:txBody>
      </p:sp>
      <p:sp>
        <p:nvSpPr>
          <p:cNvPr id="11" name="TextBox 10"/>
          <p:cNvSpPr txBox="1"/>
          <p:nvPr/>
        </p:nvSpPr>
        <p:spPr>
          <a:xfrm>
            <a:off x="1234440" y="2514600"/>
            <a:ext cx="3108960" cy="438912"/>
          </a:xfrm>
          <a:prstGeom prst="rect">
            <a:avLst/>
          </a:prstGeom>
          <a:noFill/>
        </p:spPr>
        <p:txBody>
          <a:bodyPr wrap="square" lIns="0" rIns="0" tIns="0" bIns="0">
            <a:spAutoFit/>
          </a:bodyPr>
          <a:lstStyle/>
          <a:p>
            <a:pPr>
              <a:spcAft>
                <a:spcPts val="1000"/>
              </a:spcAft>
              <a:defRPr sz="2000" b="1">
                <a:solidFill>
                  <a:srgbClr val="172124"/>
                </a:solidFill>
                <a:latin typeface="Avenir Next"/>
              </a:defRPr>
            </a:pPr>
            <a:r>
              <a:t>Edit a heading</a:t>
            </a:r>
          </a:p>
        </p:txBody>
      </p:sp>
      <p:sp>
        <p:nvSpPr>
          <p:cNvPr id="12" name="TextBox 11"/>
          <p:cNvSpPr txBox="1"/>
          <p:nvPr/>
        </p:nvSpPr>
        <p:spPr>
          <a:xfrm>
            <a:off x="4572000" y="2528316"/>
            <a:ext cx="6858000" cy="438912"/>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Make a small change in the app.</a:t>
            </a:r>
          </a:p>
        </p:txBody>
      </p:sp>
      <p:sp>
        <p:nvSpPr>
          <p:cNvPr id="13" name="Rectangle 12"/>
          <p:cNvSpPr/>
          <p:nvPr/>
        </p:nvSpPr>
        <p:spPr>
          <a:xfrm>
            <a:off x="594360" y="3200400"/>
            <a:ext cx="393192" cy="393192"/>
          </a:xfrm>
          <a:prstGeom prst="rect">
            <a:avLst/>
          </a:prstGeom>
          <a:solidFill>
            <a:srgbClr val="156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 y="3223260"/>
            <a:ext cx="228600" cy="320040"/>
          </a:xfrm>
          <a:prstGeom prst="rect">
            <a:avLst/>
          </a:prstGeom>
          <a:noFill/>
        </p:spPr>
        <p:txBody>
          <a:bodyPr wrap="square" lIns="0" rIns="0" tIns="0" bIns="0">
            <a:spAutoFit/>
          </a:bodyPr>
          <a:lstStyle/>
          <a:p>
            <a:pPr>
              <a:spcAft>
                <a:spcPts val="1000"/>
              </a:spcAft>
              <a:defRPr sz="1600" b="1">
                <a:solidFill>
                  <a:srgbClr val="FFFFFF"/>
                </a:solidFill>
                <a:latin typeface="Avenir Next"/>
              </a:defRPr>
            </a:pPr>
            <a:r>
              <a:t>2</a:t>
            </a:r>
          </a:p>
        </p:txBody>
      </p:sp>
      <p:sp>
        <p:nvSpPr>
          <p:cNvPr id="15" name="TextBox 14"/>
          <p:cNvSpPr txBox="1"/>
          <p:nvPr/>
        </p:nvSpPr>
        <p:spPr>
          <a:xfrm>
            <a:off x="1234440" y="3200400"/>
            <a:ext cx="3108960" cy="438912"/>
          </a:xfrm>
          <a:prstGeom prst="rect">
            <a:avLst/>
          </a:prstGeom>
          <a:noFill/>
        </p:spPr>
        <p:txBody>
          <a:bodyPr wrap="square" lIns="0" rIns="0" tIns="0" bIns="0">
            <a:spAutoFit/>
          </a:bodyPr>
          <a:lstStyle/>
          <a:p>
            <a:pPr>
              <a:spcAft>
                <a:spcPts val="1000"/>
              </a:spcAft>
              <a:defRPr sz="2000" b="1">
                <a:solidFill>
                  <a:srgbClr val="172124"/>
                </a:solidFill>
                <a:latin typeface="Avenir Next"/>
              </a:defRPr>
            </a:pPr>
            <a:r>
              <a:t>Commit and push</a:t>
            </a:r>
          </a:p>
        </p:txBody>
      </p:sp>
      <p:sp>
        <p:nvSpPr>
          <p:cNvPr id="16" name="TextBox 15"/>
          <p:cNvSpPr txBox="1"/>
          <p:nvPr/>
        </p:nvSpPr>
        <p:spPr>
          <a:xfrm>
            <a:off x="4572000" y="3214116"/>
            <a:ext cx="6858000" cy="438912"/>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Push the update to the dev branch.</a:t>
            </a:r>
          </a:p>
        </p:txBody>
      </p:sp>
      <p:sp>
        <p:nvSpPr>
          <p:cNvPr id="17" name="Rectangle 16"/>
          <p:cNvSpPr/>
          <p:nvPr/>
        </p:nvSpPr>
        <p:spPr>
          <a:xfrm>
            <a:off x="594360" y="3886200"/>
            <a:ext cx="393192" cy="393192"/>
          </a:xfrm>
          <a:prstGeom prst="rect">
            <a:avLst/>
          </a:prstGeom>
          <a:solidFill>
            <a:srgbClr val="167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3909060"/>
            <a:ext cx="228600" cy="320040"/>
          </a:xfrm>
          <a:prstGeom prst="rect">
            <a:avLst/>
          </a:prstGeom>
          <a:noFill/>
        </p:spPr>
        <p:txBody>
          <a:bodyPr wrap="square" lIns="0" rIns="0" tIns="0" bIns="0">
            <a:spAutoFit/>
          </a:bodyPr>
          <a:lstStyle/>
          <a:p>
            <a:pPr>
              <a:spcAft>
                <a:spcPts val="1000"/>
              </a:spcAft>
              <a:defRPr sz="1600" b="1">
                <a:solidFill>
                  <a:srgbClr val="FFFFFF"/>
                </a:solidFill>
                <a:latin typeface="Avenir Next"/>
              </a:defRPr>
            </a:pPr>
            <a:r>
              <a:t>3</a:t>
            </a:r>
          </a:p>
        </p:txBody>
      </p:sp>
      <p:sp>
        <p:nvSpPr>
          <p:cNvPr id="19" name="TextBox 18"/>
          <p:cNvSpPr txBox="1"/>
          <p:nvPr/>
        </p:nvSpPr>
        <p:spPr>
          <a:xfrm>
            <a:off x="1234440" y="3886200"/>
            <a:ext cx="3108960" cy="438912"/>
          </a:xfrm>
          <a:prstGeom prst="rect">
            <a:avLst/>
          </a:prstGeom>
          <a:noFill/>
        </p:spPr>
        <p:txBody>
          <a:bodyPr wrap="square" lIns="0" rIns="0" tIns="0" bIns="0">
            <a:spAutoFit/>
          </a:bodyPr>
          <a:lstStyle/>
          <a:p>
            <a:pPr>
              <a:spcAft>
                <a:spcPts val="1000"/>
              </a:spcAft>
              <a:defRPr sz="2000" b="1">
                <a:solidFill>
                  <a:srgbClr val="172124"/>
                </a:solidFill>
                <a:latin typeface="Avenir Next"/>
              </a:defRPr>
            </a:pPr>
            <a:r>
              <a:t>Watch GitHub Actions</a:t>
            </a:r>
          </a:p>
        </p:txBody>
      </p:sp>
      <p:sp>
        <p:nvSpPr>
          <p:cNvPr id="20" name="TextBox 19"/>
          <p:cNvSpPr txBox="1"/>
          <p:nvPr/>
        </p:nvSpPr>
        <p:spPr>
          <a:xfrm>
            <a:off x="4572000" y="3899915"/>
            <a:ext cx="6858000" cy="438912"/>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Follow the build and deployment steps.</a:t>
            </a:r>
          </a:p>
        </p:txBody>
      </p:sp>
      <p:sp>
        <p:nvSpPr>
          <p:cNvPr id="21" name="Rectangle 20"/>
          <p:cNvSpPr/>
          <p:nvPr/>
        </p:nvSpPr>
        <p:spPr>
          <a:xfrm>
            <a:off x="594360" y="4572000"/>
            <a:ext cx="393192" cy="393192"/>
          </a:xfrm>
          <a:prstGeom prst="rect">
            <a:avLst/>
          </a:prstGeom>
          <a:solidFill>
            <a:srgbClr val="167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 y="4594860"/>
            <a:ext cx="228600" cy="320040"/>
          </a:xfrm>
          <a:prstGeom prst="rect">
            <a:avLst/>
          </a:prstGeom>
          <a:noFill/>
        </p:spPr>
        <p:txBody>
          <a:bodyPr wrap="square" lIns="0" rIns="0" tIns="0" bIns="0">
            <a:spAutoFit/>
          </a:bodyPr>
          <a:lstStyle/>
          <a:p>
            <a:pPr>
              <a:spcAft>
                <a:spcPts val="1000"/>
              </a:spcAft>
              <a:defRPr sz="1600" b="1">
                <a:solidFill>
                  <a:srgbClr val="FFFFFF"/>
                </a:solidFill>
                <a:latin typeface="Avenir Next"/>
              </a:defRPr>
            </a:pPr>
            <a:r>
              <a:t>4</a:t>
            </a:r>
          </a:p>
        </p:txBody>
      </p:sp>
      <p:sp>
        <p:nvSpPr>
          <p:cNvPr id="23" name="TextBox 22"/>
          <p:cNvSpPr txBox="1"/>
          <p:nvPr/>
        </p:nvSpPr>
        <p:spPr>
          <a:xfrm>
            <a:off x="1234440" y="4572000"/>
            <a:ext cx="3108960" cy="438912"/>
          </a:xfrm>
          <a:prstGeom prst="rect">
            <a:avLst/>
          </a:prstGeom>
          <a:noFill/>
        </p:spPr>
        <p:txBody>
          <a:bodyPr wrap="square" lIns="0" rIns="0" tIns="0" bIns="0">
            <a:spAutoFit/>
          </a:bodyPr>
          <a:lstStyle/>
          <a:p>
            <a:pPr>
              <a:spcAft>
                <a:spcPts val="1000"/>
              </a:spcAft>
              <a:defRPr sz="2000" b="1">
                <a:solidFill>
                  <a:srgbClr val="172124"/>
                </a:solidFill>
                <a:latin typeface="Avenir Next"/>
              </a:defRPr>
            </a:pPr>
            <a:r>
              <a:t>Refresh the website</a:t>
            </a:r>
          </a:p>
        </p:txBody>
      </p:sp>
      <p:sp>
        <p:nvSpPr>
          <p:cNvPr id="24" name="TextBox 23"/>
          <p:cNvSpPr txBox="1"/>
          <p:nvPr/>
        </p:nvSpPr>
        <p:spPr>
          <a:xfrm>
            <a:off x="4572000" y="4585716"/>
            <a:ext cx="6858000" cy="438912"/>
          </a:xfrm>
          <a:prstGeom prst="rect">
            <a:avLst/>
          </a:prstGeom>
          <a:noFill/>
        </p:spPr>
        <p:txBody>
          <a:bodyPr wrap="square" lIns="0" rIns="0" tIns="0" bIns="0">
            <a:spAutoFit/>
          </a:bodyPr>
          <a:lstStyle/>
          <a:p>
            <a:pPr>
              <a:spcAft>
                <a:spcPts val="1000"/>
              </a:spcAft>
              <a:defRPr sz="1800" b="0">
                <a:solidFill>
                  <a:srgbClr val="526168"/>
                </a:solidFill>
                <a:latin typeface="Avenir Next"/>
              </a:defRPr>
            </a:pPr>
            <a:r>
              <a:t>Confirm that the new heading is visible.</a:t>
            </a:r>
          </a:p>
        </p:txBody>
      </p:sp>
      <p:sp>
        <p:nvSpPr>
          <p:cNvPr id="25" name="TextBox 24"/>
          <p:cNvSpPr txBox="1"/>
          <p:nvPr/>
        </p:nvSpPr>
        <p:spPr>
          <a:xfrm>
            <a:off x="594360" y="5559552"/>
            <a:ext cx="10881360" cy="457200"/>
          </a:xfrm>
          <a:prstGeom prst="rect">
            <a:avLst/>
          </a:prstGeom>
          <a:noFill/>
        </p:spPr>
        <p:txBody>
          <a:bodyPr wrap="square" lIns="0" rIns="0" tIns="0" bIns="0">
            <a:spAutoFit/>
          </a:bodyPr>
          <a:lstStyle/>
          <a:p>
            <a:pPr>
              <a:spcAft>
                <a:spcPts val="1000"/>
              </a:spcAft>
              <a:defRPr sz="2300" b="1">
                <a:solidFill>
                  <a:srgbClr val="1569D4"/>
                </a:solidFill>
                <a:latin typeface="Avenir Next"/>
              </a:defRPr>
            </a:pPr>
            <a:r>
              <a:t>tododevday-app.azurewebsites.net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Code to Cloud: Task List Deployment</dc:title>
  <dc:subject>A beginner-friendly GitHub Actions team presentation</dc:subject>
  <dc:creator>Task List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